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</p:sldIdLst>
  <p:sldSz cx="12192000" cy="6858000"/>
  <p:notesSz cx="6858000" cy="9144000"/>
  <p:custDataLst>
    <p:tags r:id="rId13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" Type="http://schemas.openxmlformats.org/officeDocument/2006/relationships/slide" Target="slides/slide10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" Type="http://schemas.openxmlformats.org/officeDocument/2006/relationships/slide" Target="slides/slide11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" Type="http://schemas.openxmlformats.org/officeDocument/2006/relationships/slide" Target="slides/slide12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tags" Target="tags/tag1.xml" /><Relationship Id="rId137" Type="http://schemas.openxmlformats.org/officeDocument/2006/relationships/presProps" Target="presProps.xml" /><Relationship Id="rId138" Type="http://schemas.openxmlformats.org/officeDocument/2006/relationships/viewProps" Target="viewProps.xml" /><Relationship Id="rId139" Type="http://schemas.openxmlformats.org/officeDocument/2006/relationships/theme" Target="theme/theme1.xml" /><Relationship Id="rId14" Type="http://schemas.openxmlformats.org/officeDocument/2006/relationships/slide" Target="slides/slide13.xml" /><Relationship Id="rId140" Type="http://schemas.openxmlformats.org/officeDocument/2006/relationships/tableStyles" Target="tableStyles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" Type="http://schemas.openxmlformats.org/officeDocument/2006/relationships/slide" Target="slides/slide1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" Type="http://schemas.openxmlformats.org/officeDocument/2006/relationships/slide" Target="slides/slide2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" Type="http://schemas.openxmlformats.org/officeDocument/2006/relationships/slide" Target="slides/slide3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" Type="http://schemas.openxmlformats.org/officeDocument/2006/relationships/slide" Target="slides/slide4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" Type="http://schemas.openxmlformats.org/officeDocument/2006/relationships/slide" Target="slides/slide5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" Type="http://schemas.openxmlformats.org/officeDocument/2006/relationships/slide" Target="slides/slide6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" Type="http://schemas.openxmlformats.org/officeDocument/2006/relationships/slide" Target="slides/slide7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" Type="http://schemas.openxmlformats.org/officeDocument/2006/relationships/slide" Target="slides/slide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F58F-59F7-444F-A4F8-74C12849A54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2CF5-D4EB-4F32-A2ED-D7D4850F0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98789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9F58F-59F7-444F-A4F8-74C12849A54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22CF5-D4EB-4F32-A2ED-D7D4850F0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31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jpe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jpe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jpe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jpe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jpe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jpe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jpe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jpe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jpe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jpe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jpe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jpe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jpe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jpe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jpe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jpe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jpe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jpe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jpe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jpe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jpe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jpe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jpe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4.jpe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5.jpe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6.jpe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7.jpe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8.jpe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9.jpe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0.jpe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1.jpe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2.jpe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3.jpeg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4.jpeg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5.jpeg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6.jpeg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7.jpeg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8.jpeg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9.jpeg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0.jpeg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1.jpeg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2.jpeg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3.jpeg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4.jpeg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5.jpeg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6.jpeg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7.jpeg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8.jpeg" /></Relationships>
</file>

<file path=ppt/slides/_rels/slide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9.jpeg" /></Relationships>
</file>

<file path=ppt/slides/_rels/slide6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0.jpeg" /></Relationships>
</file>

<file path=ppt/slides/_rels/slide6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1.jpeg" /></Relationships>
</file>

<file path=ppt/slides/_rels/slide6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2.jpeg" /></Relationships>
</file>

<file path=ppt/slides/_rels/slide6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3.jpeg" /></Relationships>
</file>

<file path=ppt/slides/_rels/slide6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4.jpeg" /></Relationships>
</file>

<file path=ppt/slides/_rels/slide6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5.jpeg" /></Relationships>
</file>

<file path=ppt/slides/_rels/slide6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6.jpeg" /></Relationships>
</file>

<file path=ppt/slides/_rels/slide6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7.jpeg" /></Relationships>
</file>

<file path=ppt/slides/_rels/slide7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8.jpeg" /></Relationships>
</file>

<file path=ppt/slides/_rels/slide7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9.jpeg" /></Relationships>
</file>

<file path=ppt/slides/_rels/slide7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0.jpeg" /></Relationships>
</file>

<file path=ppt/slides/_rels/slide7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1.jpeg" /></Relationships>
</file>

<file path=ppt/slides/_rels/slide7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2.jpeg" /></Relationships>
</file>

<file path=ppt/slides/_rels/slide7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3.jpeg" /></Relationships>
</file>

<file path=ppt/slides/_rels/slide7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4.jpeg" /></Relationships>
</file>

<file path=ppt/slides/_rels/slide7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5.jpeg" /></Relationships>
</file>

<file path=ppt/slides/_rels/slide7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6.jpeg" /></Relationships>
</file>

<file path=ppt/slides/_rels/slide7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7.jpeg" /></Relationships>
</file>

<file path=ppt/slides/_rels/slide8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8.jpeg" /></Relationships>
</file>

<file path=ppt/slides/_rels/slide8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9.jpeg" /></Relationships>
</file>

<file path=ppt/slides/_rels/slide8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0.jpeg" /></Relationships>
</file>

<file path=ppt/slides/_rels/slide8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1.jpeg" /></Relationships>
</file>

<file path=ppt/slides/_rels/slide8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2.jpeg" /></Relationships>
</file>

<file path=ppt/slides/_rels/slide8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3.jpeg" /></Relationships>
</file>

<file path=ppt/slides/_rels/slide8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3.jpeg" /></Relationships>
</file>

<file path=ppt/slides/_rels/slide8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4.jpeg" /></Relationships>
</file>

<file path=ppt/slides/_rels/slide8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5.jpeg" /></Relationships>
</file>

<file path=ppt/slides/_rels/slide8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6.jpeg" /></Relationships>
</file>

<file path=ppt/slides/_rels/slide9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jpeg" /></Relationships>
</file>

<file path=ppt/slides/_rels/slide9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7.jpeg" /></Relationships>
</file>

<file path=ppt/slides/_rels/slide9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8.jpeg" /></Relationships>
</file>

<file path=ppt/slides/_rels/slide9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9.jpeg" /></Relationships>
</file>

<file path=ppt/slides/_rels/slide9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0.jpeg" /></Relationships>
</file>

<file path=ppt/slides/_rels/slide9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1.jpeg" /></Relationships>
</file>

<file path=ppt/slides/_rels/slide9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2.jpeg" /></Relationships>
</file>

<file path=ppt/slides/_rels/slide9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3.jpeg" /></Relationships>
</file>

<file path=ppt/slides/_rels/slide9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jpeg" /></Relationships>
</file>

<file path=ppt/slides/_rels/slide9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4.jpeg" /></Relationships>
</file>

<file path=ppt/slides/_rels/slide10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5.jpeg" /></Relationships>
</file>

<file path=ppt/slides/_rels/slide10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6.jpeg" /></Relationships>
</file>

<file path=ppt/slides/_rels/slide10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7.jpeg" /></Relationships>
</file>

<file path=ppt/slides/_rels/slide10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8.jpeg" /></Relationships>
</file>

<file path=ppt/slides/_rels/slide10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9.jpeg" /></Relationships>
</file>

<file path=ppt/slides/_rels/slide10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0.jpeg" /></Relationships>
</file>

<file path=ppt/slides/_rels/slide10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1.jpeg" /></Relationships>
</file>

<file path=ppt/slides/_rels/slide10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2.jpeg" /></Relationships>
</file>

<file path=ppt/slides/_rels/slide10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3.jpeg" /></Relationships>
</file>

<file path=ppt/slides/_rels/slide10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4.jpeg" /></Relationships>
</file>

<file path=ppt/slides/_rels/slide1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5.jpeg" /></Relationships>
</file>

<file path=ppt/slides/_rels/slide1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6.jpeg" /></Relationships>
</file>

<file path=ppt/slides/_rels/slide1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7.jpeg" /></Relationships>
</file>

<file path=ppt/slides/_rels/slide1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8.jpeg" /></Relationships>
</file>

<file path=ppt/slides/_rels/slide1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9.jpeg" /></Relationships>
</file>

<file path=ppt/slides/_rels/slide1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0.jpeg" /></Relationships>
</file>

<file path=ppt/slides/_rels/slide1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1.jpeg" /></Relationships>
</file>

<file path=ppt/slides/_rels/slide1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2.jpeg" /></Relationships>
</file>

<file path=ppt/slides/_rels/slide1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3.jpeg" /></Relationships>
</file>

<file path=ppt/slides/_rels/slide1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4.jpeg" /></Relationships>
</file>

<file path=ppt/slides/_rels/slide1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5.jpeg" /></Relationships>
</file>

<file path=ppt/slides/_rels/slide1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6.jpeg" /></Relationships>
</file>

<file path=ppt/slides/_rels/slide1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7.jpeg" /></Relationships>
</file>

<file path=ppt/slides/_rels/slide1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8.jpeg" /></Relationships>
</file>

<file path=ppt/slides/_rels/slide1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9.jpeg" /></Relationships>
</file>

<file path=ppt/slides/_rels/slide1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0.jpeg" /></Relationships>
</file>

<file path=ppt/slides/_rels/slide1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1.jpeg" /></Relationships>
</file>

<file path=ppt/slides/_rels/slide1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2.jpeg" /></Relationships>
</file>

<file path=ppt/slides/_rels/slide1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3.jpeg" /></Relationships>
</file>

<file path=ppt/slides/_rels/slide1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4.jpeg" /></Relationships>
</file>

<file path=ppt/slides/_rels/slide1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5.jpeg" /></Relationships>
</file>

<file path=ppt/slides/_rels/slide1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6.jpeg" /></Relationships>
</file>

<file path=ppt/slides/_rels/slide1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7.jpeg" /></Relationships>
</file>

<file path=ppt/slides/_rels/slide1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8.jpeg" /></Relationships>
</file>

<file path=ppt/slides/_rels/slide1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9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Средства, влияющие на функции центральной </a:t>
            </a:r>
            <a:br>
              <a:rPr lang="ru-RU" smtClean="0"/>
            </a:br>
            <a:r>
              <a:rPr lang="ru-RU" smtClean="0"/>
              <a:t>нервной системы (нейротропные и психотропные</a:t>
            </a:r>
            <a:br>
              <a:rPr lang="ru-RU" smtClean="0"/>
            </a:br>
            <a:r>
              <a:rPr lang="ru-RU" smtClean="0"/>
              <a:t> средства)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59994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25786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94298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Важнейшая проблема.</a:t>
            </a:r>
            <a:r>
              <a:rPr lang="ru-RU" smtClean="0"/>
              <a:t> </a:t>
            </a:r>
            <a:r>
              <a:rPr lang="ru-RU" smtClean="0">
                <a:solidFill>
                  <a:srgbClr val="FF0000"/>
                </a:solidFill>
              </a:rPr>
              <a:t>Побочным эффектом психотропных препаратов</a:t>
            </a:r>
            <a:r>
              <a:rPr lang="ru-RU" smtClean="0"/>
              <a:t>, которые используются для лечения нарушений психического здоровья, являются </a:t>
            </a:r>
            <a:r>
              <a:rPr lang="ru-RU" smtClean="0">
                <a:solidFill>
                  <a:srgbClr val="FF0000"/>
                </a:solidFill>
              </a:rPr>
              <a:t>проблемы с психическим здоровьем</a:t>
            </a:r>
            <a:r>
              <a:rPr lang="ru-RU" smtClean="0"/>
              <a:t>!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30657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Средства влияющие на ЦНС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15521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Нормативные документы регулирующие оборот психотропных средств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72101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71842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Две группы психических заболеваний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31722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Нейротропные средства угнетающего действия</a:t>
            </a:r>
            <a:endParaRPr lang="ru-RU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65086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smtClean="0"/>
              <a:t>БЕДЛАМ</a:t>
            </a:r>
            <a:endParaRPr lang="ru-RU" sz="4000" b="1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95791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Транквилизатор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07588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2758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15736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10694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Нормотимики - стабилизаторы настроения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16363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Фенобарбитал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66982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Бензодиазепины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15906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Антипсихотики = нейролептики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63254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09130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57692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5-</a:t>
            </a:r>
            <a:r>
              <a:rPr lang="en-US" smtClean="0"/>
              <a:t>HT </a:t>
            </a:r>
            <a:r>
              <a:rPr lang="ru-RU" smtClean="0"/>
              <a:t>рецепторов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99293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11308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60659"/>
      </p:ext>
    </p:ext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Распределение гистаминовых рецепторов в структурах головного мозга</a:t>
            </a:r>
            <a:br>
              <a:rPr lang="ru-RU" smtClean="0"/>
            </a:b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1618"/>
      </p:ext>
    </p:extLst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Типичные нейролептики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24344"/>
      </p:ext>
    </p:ext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Типичные нейролептики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62051"/>
      </p:ext>
    </p:extLst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Злокачественный нейролептический синдром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49937"/>
      </p:ext>
    </p:ext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Атипичные нейролептики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72267"/>
      </p:ext>
    </p:extLst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ct val="0"/>
              </a:spcAft>
              <a:defRPr/>
            </a:pPr>
            <a:r>
              <a:rPr lang="ru-RU" sz="5400" smtClean="0">
                <a:ln>
                  <a:noFill/>
                </a:ln>
                <a:solidFill>
                  <a:srgbClr val="FFFFFF"/>
                </a:solidFill>
                <a:effectLst/>
              </a:rPr>
              <a:t>Анксиолитики</a:t>
            </a:r>
            <a:br>
              <a:rPr lang="ru-RU" sz="5400" smtClean="0">
                <a:ln>
                  <a:noFill/>
                </a:ln>
                <a:solidFill>
                  <a:srgbClr val="FFFFFF"/>
                </a:solidFill>
                <a:effectLst/>
              </a:rPr>
            </a:br>
            <a:r>
              <a:rPr lang="ru-RU" sz="5400" smtClean="0">
                <a:ln>
                  <a:noFill/>
                </a:ln>
                <a:solidFill>
                  <a:srgbClr val="FFFFFF"/>
                </a:solidFill>
                <a:effectLst/>
              </a:rPr>
              <a:t>(транквилизаторы)</a:t>
            </a:r>
            <a:endParaRPr lang="ru-RU" sz="540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3608"/>
      </p:ext>
    </p:extLst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Транквилизатор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22994"/>
      </p:ext>
    </p:extLst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Фенобарбитал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15655"/>
      </p:ext>
    </p:extLst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Бензодиазепины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17635"/>
      </p:ext>
    </p:extLst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75802"/>
      </p:ext>
    </p:extLst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Дозозависимые эффекты бензадиазепинов и фенобарбитала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69534"/>
      </p:ext>
    </p:extLst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Сравнительная характеристика бензодиазепинов и барбитуратов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19885"/>
      </p:ext>
    </p:extLst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28962"/>
      </p:ext>
    </p:extLst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ct val="0"/>
              </a:spcAft>
              <a:defRPr/>
            </a:pPr>
            <a:r>
              <a:rPr lang="ru-RU" sz="5400" smtClean="0">
                <a:ln>
                  <a:noFill/>
                </a:ln>
                <a:solidFill>
                  <a:schemeClr val="tx1"/>
                </a:solidFill>
                <a:effectLst/>
              </a:rPr>
              <a:t>Анксиолитики - применение</a:t>
            </a:r>
            <a:endParaRPr lang="ru-RU" sz="540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75859"/>
      </p:ext>
    </p:extLst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ct val="0"/>
              </a:spcAft>
              <a:defRPr/>
            </a:pPr>
            <a:r>
              <a:rPr lang="ru-RU" smtClean="0">
                <a:ln>
                  <a:noFill/>
                </a:ln>
                <a:solidFill>
                  <a:schemeClr val="tx1"/>
                </a:solidFill>
                <a:effectLst/>
              </a:rPr>
              <a:t>Побочные эффекты БД</a:t>
            </a:r>
            <a:endParaRPr lang="ru-RU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262"/>
      </p:ext>
    </p:extLst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mtClean="0">
                <a:solidFill>
                  <a:schemeClr val="tx1"/>
                </a:solidFill>
              </a:rPr>
              <a:t>Синдром отмены анкисолитиков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98619"/>
      </p:ext>
    </p:extLst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Атипичные анксиолитики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56542"/>
      </p:ext>
    </p:extLst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81607"/>
      </p:ext>
    </p:extLst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40118"/>
      </p:ext>
    </p:extLst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Снотворные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02301"/>
      </p:ext>
    </p:extLst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10911"/>
      </p:ext>
    </p:extLst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/>
              </a:rPr>
              <a:t>Фазы сна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96036"/>
      </p:ext>
    </p:extLst>
  </p:cSld>
  <p:clrMapOvr>
    <a:masterClrMapping/>
  </p:clrMapOvr>
  <p:transition/>
  <p:timing/>
</p:sld>
</file>

<file path=ppt/slides/slide4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Сон и бодрствование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48312"/>
      </p:ext>
    </p:extLst>
  </p:cSld>
  <p:clrMapOvr>
    <a:masterClrMapping/>
  </p:clrMapOvr>
  <p:transition/>
  <p:timing/>
</p:sld>
</file>

<file path=ppt/slides/slide4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МКБ-10</a:t>
            </a:r>
            <a:r>
              <a:rPr lang="ru-RU" smtClean="0"/>
              <a:t> Расстройства сна (органической природы)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00092"/>
      </p:ext>
    </p:extLst>
  </p:cSld>
  <p:clrMapOvr>
    <a:masterClrMapping/>
  </p:clrMapOvr>
  <p:transition/>
  <p:timing/>
</p:sld>
</file>

<file path=ppt/slides/slide4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Медикаментозное лечение: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44022"/>
      </p:ext>
    </p:extLst>
  </p:cSld>
  <p:clrMapOvr>
    <a:masterClrMapping/>
  </p:clrMapOvr>
  <p:transition/>
  <p:timing/>
</p:sld>
</file>

<file path=ppt/slides/slide4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Немедикаментозное лечение: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01769"/>
      </p:ext>
    </p:extLst>
  </p:cSld>
  <p:clrMapOvr>
    <a:masterClrMapping/>
  </p:clrMapOvr>
  <p:transition/>
  <p:timing/>
</p:sld>
</file>

<file path=ppt/slides/slide5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smtClean="0">
                <a:solidFill>
                  <a:schemeClr val="accent2"/>
                </a:solidFill>
              </a:rPr>
              <a:t>Снотворные средства</a:t>
            </a:r>
            <a:endParaRPr lang="ru-RU" altLang="ru-RU" sz="4000" b="1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57947"/>
      </p:ext>
    </p:extLst>
  </p:cSld>
  <p:clrMapOvr>
    <a:masterClrMapping/>
  </p:clrMapOvr>
  <p:transition/>
  <p:timing/>
</p:sld>
</file>

<file path=ppt/slides/slide5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34994"/>
      </p:ext>
    </p:extLst>
  </p:cSld>
  <p:clrMapOvr>
    <a:masterClrMapping/>
  </p:clrMapOvr>
  <p:transition/>
  <p:timing/>
</p:sld>
</file>

<file path=ppt/slides/slide5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37258"/>
      </p:ext>
    </p:extLst>
  </p:cSld>
  <p:clrMapOvr>
    <a:masterClrMapping/>
  </p:clrMapOvr>
  <p:transition/>
  <p:timing/>
</p:sld>
</file>

<file path=ppt/slides/slide5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09434"/>
      </p:ext>
    </p:extLst>
  </p:cSld>
  <p:clrMapOvr>
    <a:masterClrMapping/>
  </p:clrMapOvr>
  <p:transition/>
  <p:timing/>
</p:sld>
</file>

<file path=ppt/slides/slide5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89192"/>
      </p:ext>
    </p:extLst>
  </p:cSld>
  <p:clrMapOvr>
    <a:masterClrMapping/>
  </p:clrMapOvr>
  <p:transition/>
  <p:timing/>
</p:sld>
</file>

<file path=ppt/slides/slide5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Мелатонин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87542"/>
      </p:ext>
    </p:extLst>
  </p:cSld>
  <p:clrMapOvr>
    <a:masterClrMapping/>
  </p:clrMapOvr>
  <p:transition/>
  <p:timing/>
</p:sld>
</file>

<file path=ppt/slides/slide5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Орексиновые антангонисты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0947"/>
      </p:ext>
    </p:extLst>
  </p:cSld>
  <p:clrMapOvr>
    <a:masterClrMapping/>
  </p:clrMapOvr>
  <p:transition/>
  <p:timing/>
</p:sld>
</file>

<file path=ppt/slides/slide5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Орексиновые антангонисты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41527"/>
      </p:ext>
    </p:extLst>
  </p:cSld>
  <p:clrMapOvr>
    <a:masterClrMapping/>
  </p:clrMapOvr>
  <p:transition/>
  <p:timing/>
</p:sld>
</file>

<file path=ppt/slides/slide5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Противосудорожные препараты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05583"/>
      </p:ext>
    </p:extLst>
  </p:cSld>
  <p:clrMapOvr>
    <a:masterClrMapping/>
  </p:clrMapOvr>
  <p:transition/>
  <p:timing/>
</p:sld>
</file>

<file path=ppt/slides/slide5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Терминология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03401"/>
      </p:ext>
    </p:extLst>
  </p:cSld>
  <p:clrMapOvr>
    <a:masterClrMapping/>
  </p:clrMapOvr>
  <p:transition/>
  <p:timing/>
</p:sld>
</file>

<file path=ppt/slides/slide6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Противосудорожные препараты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54989"/>
      </p:ext>
    </p:extLst>
  </p:cSld>
  <p:clrMapOvr>
    <a:masterClrMapping/>
  </p:clrMapOvr>
  <p:transition/>
  <p:timing/>
</p:sld>
</file>

<file path=ppt/slides/slide6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Эпилепсия</a:t>
            </a:r>
            <a:endParaRPr lang="ru-RU" b="1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69180"/>
      </p:ext>
    </p:extLst>
  </p:cSld>
  <p:clrMapOvr>
    <a:masterClrMapping/>
  </p:clrMapOvr>
  <p:transition/>
  <p:timing/>
</p:sld>
</file>

<file path=ppt/slides/slide6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Общий механизм противоэпилептических препаратов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48060"/>
      </p:ext>
    </p:extLst>
  </p:cSld>
  <p:clrMapOvr>
    <a:masterClrMapping/>
  </p:clrMapOvr>
  <p:transition/>
  <p:timing/>
</p:sld>
</file>

<file path=ppt/slides/slide6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49773"/>
      </p:ext>
    </p:extLst>
  </p:cSld>
  <p:clrMapOvr>
    <a:masterClrMapping/>
  </p:clrMapOvr>
  <p:transition/>
  <p:timing/>
</p:sld>
</file>

<file path=ppt/slides/slide6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05907"/>
      </p:ext>
    </p:extLst>
  </p:cSld>
  <p:clrMapOvr>
    <a:masterClrMapping/>
  </p:clrMapOvr>
  <p:transition/>
  <p:timing/>
</p:sld>
</file>

<file path=ppt/slides/slide6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47394"/>
      </p:ext>
    </p:extLst>
  </p:cSld>
  <p:clrMapOvr>
    <a:masterClrMapping/>
  </p:clrMapOvr>
  <p:transition/>
  <p:timing/>
</p:sld>
</file>

<file path=ppt/slides/slide6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110"/>
      </p:ext>
    </p:extLst>
  </p:cSld>
  <p:clrMapOvr>
    <a:masterClrMapping/>
  </p:clrMapOvr>
  <p:transition/>
  <p:timing/>
</p:sld>
</file>

<file path=ppt/slides/slide6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21305"/>
      </p:ext>
    </p:extLst>
  </p:cSld>
  <p:clrMapOvr>
    <a:masterClrMapping/>
  </p:clrMapOvr>
  <p:transition/>
  <p:timing/>
</p:sld>
</file>

<file path=ppt/slides/slide6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77745"/>
      </p:ext>
    </p:extLst>
  </p:cSld>
  <p:clrMapOvr>
    <a:masterClrMapping/>
  </p:clrMapOvr>
  <p:transition/>
  <p:timing/>
</p:sld>
</file>

<file path=ppt/slides/slide6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68997"/>
      </p:ext>
    </p:extLst>
  </p:cSld>
  <p:clrMapOvr>
    <a:masterClrMapping/>
  </p:clrMapOvr>
  <p:transition/>
  <p:timing/>
</p:sld>
</file>

<file path=ppt/slides/slide7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32634"/>
      </p:ext>
    </p:extLst>
  </p:cSld>
  <p:clrMapOvr>
    <a:masterClrMapping/>
  </p:clrMapOvr>
  <p:transition/>
  <p:timing/>
</p:sld>
</file>

<file path=ppt/slides/slide7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Противоэпилептические препараты не зарегистрированные в России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94707"/>
      </p:ext>
    </p:extLst>
  </p:cSld>
  <p:clrMapOvr>
    <a:masterClrMapping/>
  </p:clrMapOvr>
  <p:transition/>
  <p:timing/>
</p:sld>
</file>

<file path=ppt/slides/slide7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Паркинсонизм</a:t>
            </a:r>
            <a:endParaRPr lang="ru-RU" alt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5095"/>
      </p:ext>
    </p:extLst>
  </p:cSld>
  <p:clrMapOvr>
    <a:masterClrMapping/>
  </p:clrMapOvr>
  <p:transition/>
  <p:timing/>
</p:sld>
</file>

<file path=ppt/slides/slide7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Противопаркинсонические средства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16459"/>
      </p:ext>
    </p:extLst>
  </p:cSld>
  <p:clrMapOvr>
    <a:masterClrMapping/>
  </p:clrMapOvr>
  <p:transition/>
  <p:timing/>
</p:sld>
</file>

<file path=ppt/slides/slide7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86460"/>
      </p:ext>
    </p:extLst>
  </p:cSld>
  <p:clrMapOvr>
    <a:masterClrMapping/>
  </p:clrMapOvr>
  <p:transition/>
  <p:timing/>
</p:sld>
</file>

<file path=ppt/slides/slide7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57919"/>
      </p:ext>
    </p:extLst>
  </p:cSld>
  <p:clrMapOvr>
    <a:masterClrMapping/>
  </p:clrMapOvr>
  <p:transition/>
  <p:timing/>
</p:sld>
</file>

<file path=ppt/slides/slide7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28238"/>
      </p:ext>
    </p:extLst>
  </p:cSld>
  <p:clrMapOvr>
    <a:masterClrMapping/>
  </p:clrMapOvr>
  <p:transition/>
  <p:timing/>
</p:sld>
</file>

<file path=ppt/slides/slide7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Противопаркинсонические препараты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89077"/>
      </p:ext>
    </p:extLst>
  </p:cSld>
  <p:clrMapOvr>
    <a:masterClrMapping/>
  </p:clrMapOvr>
  <p:transition/>
  <p:timing/>
</p:sld>
</file>

<file path=ppt/slides/slide7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10700"/>
      </p:ext>
    </p:extLst>
  </p:cSld>
  <p:clrMapOvr>
    <a:masterClrMapping/>
  </p:clrMapOvr>
  <p:transition/>
  <p:timing/>
</p:sld>
</file>

<file path=ppt/slides/slide7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Побочные эффекты леводопы 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16447"/>
      </p:ext>
    </p:extLst>
  </p:cSld>
  <p:clrMapOvr>
    <a:masterClrMapping/>
  </p:clrMapOvr>
  <p:transition/>
  <p:timing/>
</p:sld>
</file>

<file path=ppt/slides/slide8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Коррекция побочных  эффектов леводопы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29046"/>
      </p:ext>
    </p:extLst>
  </p:cSld>
  <p:clrMapOvr>
    <a:masterClrMapping/>
  </p:clrMapOvr>
  <p:transition/>
  <p:timing/>
</p:sld>
</file>

<file path=ppt/slides/slide8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Корректоры побочных эффектов леводопы*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1690"/>
      </p:ext>
    </p:extLst>
  </p:cSld>
  <p:clrMapOvr>
    <a:masterClrMapping/>
  </p:clrMapOvr>
  <p:transition/>
  <p:timing/>
</p:sld>
</file>

<file path=ppt/slides/slide8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11964"/>
      </p:ext>
    </p:extLst>
  </p:cSld>
  <p:clrMapOvr>
    <a:masterClrMapping/>
  </p:clrMapOvr>
  <p:transition/>
  <p:timing/>
</p:sld>
</file>

<file path=ppt/slides/slide8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Противопаркинсонические препараты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43203"/>
      </p:ext>
    </p:extLst>
  </p:cSld>
  <p:clrMapOvr>
    <a:masterClrMapping/>
  </p:clrMapOvr>
  <p:transition/>
  <p:timing/>
</p:sld>
</file>

<file path=ppt/slides/slide8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74967"/>
      </p:ext>
    </p:extLst>
  </p:cSld>
  <p:clrMapOvr>
    <a:masterClrMapping/>
  </p:clrMapOvr>
  <p:transition/>
  <p:timing/>
</p:sld>
</file>

<file path=ppt/slides/slide8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58896"/>
      </p:ext>
    </p:extLst>
  </p:cSld>
  <p:clrMapOvr>
    <a:masterClrMapping/>
  </p:clrMapOvr>
  <p:transition/>
  <p:timing/>
</p:sld>
</file>

<file path=ppt/slides/slide8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32456"/>
      </p:ext>
    </p:extLst>
  </p:cSld>
  <p:clrMapOvr>
    <a:masterClrMapping/>
  </p:clrMapOvr>
  <p:transition/>
  <p:timing/>
</p:sld>
</file>

<file path=ppt/slides/slide8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Дисбаланс между холинергическими и дофаминергическими системами в патогенез паркинсонизма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43188"/>
      </p:ext>
    </p:extLst>
  </p:cSld>
  <p:clrMapOvr>
    <a:masterClrMapping/>
  </p:clrMapOvr>
  <p:transition/>
  <p:timing/>
</p:sld>
</file>

<file path=ppt/slides/slide8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13872"/>
      </p:ext>
    </p:extLst>
  </p:cSld>
  <p:clrMapOvr>
    <a:masterClrMapping/>
  </p:clrMapOvr>
  <p:transition/>
  <p:timing/>
</p:sld>
</file>

<file path=ppt/slides/slide8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Психотропные средства стимулирующего действия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01278"/>
      </p:ext>
    </p:extLst>
  </p:cSld>
  <p:clrMapOvr>
    <a:masterClrMapping/>
  </p:clrMapOvr>
  <p:transition/>
  <p:timing/>
</p:sld>
</file>

<file path=ppt/slides/slide9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Средства влияющие на ЦНС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5433"/>
      </p:ext>
    </p:extLst>
  </p:cSld>
  <p:clrMapOvr>
    <a:masterClrMapping/>
  </p:clrMapOvr>
  <p:transition/>
  <p:timing/>
</p:sld>
</file>

<file path=ppt/slides/slide9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Антидепрессанты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6975"/>
      </p:ext>
    </p:extLst>
  </p:cSld>
  <p:clrMapOvr>
    <a:masterClrMapping/>
  </p:clrMapOvr>
  <p:transition/>
  <p:timing/>
</p:sld>
</file>

<file path=ppt/slides/slide9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Депрессия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21976"/>
      </p:ext>
    </p:extLst>
  </p:cSld>
  <p:clrMapOvr>
    <a:masterClrMapping/>
  </p:clrMapOvr>
  <p:transition/>
  <p:timing/>
</p:sld>
</file>

<file path=ppt/slides/slide9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"Гормон счастья"</a:t>
            </a:r>
            <a:br>
              <a:rPr lang="ru-RU" smtClean="0"/>
            </a:br>
            <a:r>
              <a:rPr lang="ru-RU" smtClean="0"/>
              <a:t>"Медиатор хорошего настроения"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7979"/>
      </p:ext>
    </p:extLst>
  </p:cSld>
  <p:clrMapOvr>
    <a:masterClrMapping/>
  </p:clrMapOvr>
  <p:transition/>
  <p:timing/>
</p:sld>
</file>

<file path=ppt/slides/slide9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Серотониновые рецепторы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26464"/>
      </p:ext>
    </p:extLst>
  </p:cSld>
  <p:clrMapOvr>
    <a:masterClrMapping/>
  </p:clrMapOvr>
  <p:transition/>
  <p:timing/>
</p:sld>
</file>

<file path=ppt/slides/slide9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Серотониновые рецепторы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91856"/>
      </p:ext>
    </p:extLst>
  </p:cSld>
  <p:clrMapOvr>
    <a:masterClrMapping/>
  </p:clrMapOvr>
  <p:transition/>
  <p:timing/>
</p:sld>
</file>

<file path=ppt/slides/slide9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Серотониновые рецепторы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27437"/>
      </p:ext>
    </p:extLst>
  </p:cSld>
  <p:clrMapOvr>
    <a:masterClrMapping/>
  </p:clrMapOvr>
  <p:transition/>
  <p:timing/>
</p:sld>
</file>

<file path=ppt/slides/slide9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Серотониновые рецепторы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95337"/>
      </p:ext>
    </p:extLst>
  </p:cSld>
  <p:clrMapOvr>
    <a:masterClrMapping/>
  </p:clrMapOvr>
  <p:transition/>
  <p:timing/>
</p:sld>
</file>

<file path=ppt/slides/slide9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5-</a:t>
            </a:r>
            <a:r>
              <a:rPr lang="en-US" smtClean="0"/>
              <a:t>HT </a:t>
            </a:r>
            <a:r>
              <a:rPr lang="ru-RU" smtClean="0"/>
              <a:t>рецепторов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7429"/>
      </p:ext>
    </p:extLst>
  </p:cSld>
  <p:clrMapOvr>
    <a:masterClrMapping/>
  </p:clrMapOvr>
  <p:transition/>
  <p:timing/>
</p:sld>
</file>

<file path=ppt/slides/slide9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Серотониновые рецепторы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8637"/>
      </p:ext>
    </p:extLst>
  </p:cSld>
  <p:clrMapOvr>
    <a:masterClrMapping/>
  </p:clrMapOvr>
  <p:transition/>
  <p:timing/>
</p:sld>
</file>

<file path=ppt/slides/slide10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smtClean="0"/>
              <a:t>Роль дефицита моноаминов в развитии депрессии</a:t>
            </a:r>
            <a:endParaRPr lang="ru-RU" sz="28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06698"/>
      </p:ext>
    </p:extLst>
  </p:cSld>
  <p:clrMapOvr>
    <a:masterClrMapping/>
  </p:clrMapOvr>
  <p:transition/>
  <p:timing/>
</p:sld>
</file>

<file path=ppt/slides/slide10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антидепрессантов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88012"/>
      </p:ext>
    </p:extLst>
  </p:cSld>
  <p:clrMapOvr>
    <a:masterClrMapping/>
  </p:clrMapOvr>
  <p:transition/>
  <p:timing/>
</p:sld>
</file>

<file path=ppt/slides/slide10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30116"/>
      </p:ext>
    </p:extLst>
  </p:cSld>
  <p:clrMapOvr>
    <a:masterClrMapping/>
  </p:clrMapOvr>
  <p:transition/>
  <p:timing/>
</p:sld>
</file>

<file path=ppt/slides/slide10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Химические особенности антидепрессантов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15163"/>
      </p:ext>
    </p:extLst>
  </p:cSld>
  <p:clrMapOvr>
    <a:masterClrMapping/>
  </p:clrMapOvr>
  <p:transition/>
  <p:timing/>
</p:sld>
</file>

<file path=ppt/slides/slide10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Трициклические антидепрессанты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11243"/>
      </p:ext>
    </p:extLst>
  </p:cSld>
  <p:clrMapOvr>
    <a:masterClrMapping/>
  </p:clrMapOvr>
  <p:transition/>
  <p:timing/>
</p:sld>
</file>

<file path=ppt/slides/slide10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Трициклические антидепрессанты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87445"/>
      </p:ext>
    </p:extLst>
  </p:cSld>
  <p:clrMapOvr>
    <a:masterClrMapping/>
  </p:clrMapOvr>
  <p:transition/>
  <p:timing/>
</p:sld>
</file>

<file path=ppt/slides/slide10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Амитриптилин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84319"/>
      </p:ext>
    </p:extLst>
  </p:cSld>
  <p:clrMapOvr>
    <a:masterClrMapping/>
  </p:clrMapOvr>
  <p:transition/>
  <p:timing/>
</p:sld>
</file>

<file path=ppt/slides/slide10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Амитриптилин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12777"/>
      </p:ext>
    </p:extLst>
  </p:cSld>
  <p:clrMapOvr>
    <a:masterClrMapping/>
  </p:clrMapOvr>
  <p:transition/>
  <p:timing/>
</p:sld>
</file>

<file path=ppt/slides/slide10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Амитриптилин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88666"/>
      </p:ext>
    </p:extLst>
  </p:cSld>
  <p:clrMapOvr>
    <a:masterClrMapping/>
  </p:clrMapOvr>
  <p:transition/>
  <p:timing/>
</p:sld>
</file>

<file path=ppt/slides/slide10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74291"/>
      </p:ext>
    </p:extLst>
  </p:cSld>
  <p:clrMapOvr>
    <a:masterClrMapping/>
  </p:clrMapOvr>
  <p:transition/>
  <p:timing/>
</p:sld>
</file>

<file path=ppt/slides/slide1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12624"/>
      </p:ext>
    </p:extLst>
  </p:cSld>
  <p:clrMapOvr>
    <a:masterClrMapping/>
  </p:clrMapOvr>
  <p:transition/>
  <p:timing/>
</p:sld>
</file>

<file path=ppt/slides/slide1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05034"/>
      </p:ext>
    </p:extLst>
  </p:cSld>
  <p:clrMapOvr>
    <a:masterClrMapping/>
  </p:clrMapOvr>
  <p:transition/>
  <p:timing/>
</p:sld>
</file>

<file path=ppt/slides/slide11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80942"/>
      </p:ext>
    </p:extLst>
  </p:cSld>
  <p:clrMapOvr>
    <a:masterClrMapping/>
  </p:clrMapOvr>
  <p:transition/>
  <p:timing/>
</p:sld>
</file>

<file path=ppt/slides/slide11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FF0066"/>
                </a:solidFill>
              </a:rPr>
              <a:t>I</a:t>
            </a:r>
            <a:r>
              <a:rPr lang="en-US" altLang="ru-RU" b="1" smtClean="0">
                <a:solidFill>
                  <a:srgbClr val="FF0066"/>
                </a:solidFill>
              </a:rPr>
              <a:t>I</a:t>
            </a:r>
            <a:r>
              <a:rPr lang="ru-RU" altLang="ru-RU" b="1" smtClean="0">
                <a:solidFill>
                  <a:srgbClr val="FF0066"/>
                </a:solidFill>
              </a:rPr>
              <a:t>. ПСИХОСТИМУЛЯТОРЫ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75436"/>
      </p:ext>
    </p:extLst>
  </p:cSld>
  <p:clrMapOvr>
    <a:masterClrMapping/>
  </p:clrMapOvr>
  <p:transition/>
  <p:timing/>
</p:sld>
</file>

<file path=ppt/slides/slide11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62667"/>
      </p:ext>
    </p:extLst>
  </p:cSld>
  <p:clrMapOvr>
    <a:masterClrMapping/>
  </p:clrMapOvr>
  <p:transition/>
  <p:timing/>
</p:sld>
</file>

<file path=ppt/slides/slide11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36875"/>
      </p:ext>
    </p:extLst>
  </p:cSld>
  <p:clrMapOvr>
    <a:masterClrMapping/>
  </p:clrMapOvr>
  <p:transition/>
  <p:timing/>
</p:sld>
</file>

<file path=ppt/slides/slide11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2576"/>
      </p:ext>
    </p:extLst>
  </p:cSld>
  <p:clrMapOvr>
    <a:masterClrMapping/>
  </p:clrMapOvr>
  <p:transition/>
  <p:timing/>
</p:sld>
</file>

<file path=ppt/slides/slide11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56165"/>
      </p:ext>
    </p:extLst>
  </p:cSld>
  <p:clrMapOvr>
    <a:masterClrMapping/>
  </p:clrMapOvr>
  <p:transition/>
  <p:timing/>
</p:sld>
</file>

<file path=ppt/slides/slide11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8442"/>
      </p:ext>
    </p:extLst>
  </p:cSld>
  <p:clrMapOvr>
    <a:masterClrMapping/>
  </p:clrMapOvr>
  <p:transition/>
  <p:timing/>
</p:sld>
</file>

<file path=ppt/slides/slide11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64047"/>
      </p:ext>
    </p:extLst>
  </p:cSld>
  <p:clrMapOvr>
    <a:masterClrMapping/>
  </p:clrMapOvr>
  <p:transition/>
  <p:timing/>
</p:sld>
</file>

<file path=ppt/slides/slide12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87418"/>
      </p:ext>
    </p:extLst>
  </p:cSld>
  <p:clrMapOvr>
    <a:masterClrMapping/>
  </p:clrMapOvr>
  <p:transition/>
  <p:timing/>
</p:sld>
</file>

<file path=ppt/slides/slide12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54559"/>
      </p:ext>
    </p:extLst>
  </p:cSld>
  <p:clrMapOvr>
    <a:masterClrMapping/>
  </p:clrMapOvr>
  <p:transition/>
  <p:timing/>
</p:sld>
</file>

<file path=ppt/slides/slide12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56067"/>
      </p:ext>
    </p:extLst>
  </p:cSld>
  <p:clrMapOvr>
    <a:masterClrMapping/>
  </p:clrMapOvr>
  <p:transition/>
  <p:timing/>
</p:sld>
</file>

<file path=ppt/slides/slide12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3214"/>
      </p:ext>
    </p:extLst>
  </p:cSld>
  <p:clrMapOvr>
    <a:masterClrMapping/>
  </p:clrMapOvr>
  <p:transition/>
  <p:timing/>
</p:sld>
</file>

<file path=ppt/slides/slide12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FF0066"/>
                </a:solidFill>
              </a:rPr>
              <a:t>II</a:t>
            </a:r>
            <a:r>
              <a:rPr lang="en-US" altLang="ru-RU" b="1" smtClean="0">
                <a:solidFill>
                  <a:srgbClr val="FF0066"/>
                </a:solidFill>
              </a:rPr>
              <a:t>I</a:t>
            </a:r>
            <a:r>
              <a:rPr lang="ru-RU" altLang="ru-RU" b="1" smtClean="0">
                <a:solidFill>
                  <a:srgbClr val="FF0066"/>
                </a:solidFill>
              </a:rPr>
              <a:t>. НООТРОПЫ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6150"/>
      </p:ext>
    </p:extLst>
  </p:cSld>
  <p:clrMapOvr>
    <a:masterClrMapping/>
  </p:clrMapOvr>
  <p:transition/>
  <p:timing/>
</p:sld>
</file>

<file path=ppt/slides/slide12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НООТРОПОВ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31089"/>
      </p:ext>
    </p:extLst>
  </p:cSld>
  <p:clrMapOvr>
    <a:masterClrMapping/>
  </p:clrMapOvr>
  <p:transition/>
  <p:timing/>
</p:sld>
</file>

<file path=ppt/slides/slide12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НООТРОПОВ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31993"/>
      </p:ext>
    </p:extLst>
  </p:cSld>
  <p:clrMapOvr>
    <a:masterClrMapping/>
  </p:clrMapOvr>
  <p:transition/>
  <p:timing/>
</p:sld>
</file>

<file path=ppt/slides/slide12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КЛАССИФИКАЦИЯ НООТРОПОВ</a:t>
            </a:r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44393"/>
      </p:ext>
    </p:extLst>
  </p:cSld>
  <p:clrMapOvr>
    <a:masterClrMapping/>
  </p:clrMapOvr>
  <p:transition/>
  <p:timing/>
</p:sld>
</file>

<file path=ppt/slides/slide12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19925"/>
      </p:ext>
    </p:extLst>
  </p:cSld>
  <p:clrMapOvr>
    <a:masterClrMapping/>
  </p:clrMapOvr>
  <p:transition/>
  <p:timing/>
</p:sld>
</file>

<file path=ppt/slides/slide12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77623"/>
      </p:ext>
    </p:extLst>
  </p:cSld>
  <p:clrMapOvr>
    <a:masterClrMapping/>
  </p:clrMapOvr>
  <p:transition/>
  <p:timing/>
</p:sld>
</file>

<file path=ppt/slides/slide13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15918"/>
      </p:ext>
    </p:extLst>
  </p:cSld>
  <p:clrMapOvr>
    <a:masterClrMapping/>
  </p:clrMapOvr>
  <p:transition/>
  <p:timing/>
</p:sld>
</file>

<file path=ppt/slides/slide13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86549"/>
      </p:ext>
    </p:extLst>
  </p:cSld>
  <p:clrMapOvr>
    <a:masterClrMapping/>
  </p:clrMapOvr>
  <p:transition/>
  <p:timing/>
</p:sld>
</file>

<file path=ppt/slides/slide13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10691"/>
      </p:ext>
    </p:extLst>
  </p:cSld>
  <p:clrMapOvr>
    <a:masterClrMapping/>
  </p:clrMapOvr>
  <p:transition/>
  <p:timing/>
</p:sld>
</file>

<file path=ppt/slides/slide13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49841"/>
      </p:ext>
    </p:extLst>
  </p:cSld>
  <p:clrMapOvr>
    <a:masterClrMapping/>
  </p:clrMapOvr>
  <p:transition/>
  <p:timing/>
</p:sld>
</file>

<file path=ppt/slides/slide13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2612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Широкоэкранный</PresentationFormat>
  <Paragraphs>82</Paragraphs>
  <Slides>134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134</vt:i4>
      </vt:variant>
    </vt:vector>
  </HeadingPairs>
  <TitlesOfParts>
    <vt:vector baseType="lpstr" size="138">
      <vt:lpstr>Arial</vt:lpstr>
      <vt:lpstr>Calibri Light</vt:lpstr>
      <vt:lpstr>Calibri</vt:lpstr>
      <vt:lpstr>Тема Office</vt:lpstr>
      <vt:lpstr>Средства, влияющие на функции центральной нервной системы (нейротропные и психотропные средства)</vt:lpstr>
      <vt:lpstr>PowerPoint Presentation</vt:lpstr>
      <vt:lpstr>PowerPoint Presentation</vt:lpstr>
      <vt:lpstr>Важнейшая проблема. Побочным эффектом психотропных препаратов, которые используются для лечения нарушений психического здоровья, являются проблемы с психическим здоровьем!</vt:lpstr>
      <vt:lpstr>Средства влияющие на ЦНС</vt:lpstr>
      <vt:lpstr>Нормативные документы регулирующие оборот психотропных средств</vt:lpstr>
      <vt:lpstr>PowerPoint Presentation</vt:lpstr>
      <vt:lpstr>Две группы психических заболеваний</vt:lpstr>
      <vt:lpstr>Нейротропные средства угнетающего действия</vt:lpstr>
      <vt:lpstr>БЕДЛАМ</vt:lpstr>
      <vt:lpstr>Транквилизатор</vt:lpstr>
      <vt:lpstr>PowerPoint Presentation</vt:lpstr>
      <vt:lpstr>PowerPoint Presentation</vt:lpstr>
      <vt:lpstr>PowerPoint Presentation</vt:lpstr>
      <vt:lpstr>Нормотимики - стабилизаторы настроения</vt:lpstr>
      <vt:lpstr>Фенобарбитал</vt:lpstr>
      <vt:lpstr>Бензодиазепины</vt:lpstr>
      <vt:lpstr>Антипсихотики = нейролептики</vt:lpstr>
      <vt:lpstr>PowerPoint Presentation</vt:lpstr>
      <vt:lpstr>PowerPoint Presentation</vt:lpstr>
      <vt:lpstr>Классификация 5-HT рецепторов</vt:lpstr>
      <vt:lpstr>PowerPoint Presentation</vt:lpstr>
      <vt:lpstr>PowerPoint Presentation</vt:lpstr>
      <vt:lpstr>Распределение гистаминовых рецепторов в структурах головного мозга</vt:lpstr>
      <vt:lpstr>Типичные нейролептики</vt:lpstr>
      <vt:lpstr>Типичные нейролептики</vt:lpstr>
      <vt:lpstr>Злокачественный нейролептический синдром</vt:lpstr>
      <vt:lpstr>Атипичные нейролептики</vt:lpstr>
      <vt:lpstr>Анксиолитики(транквилизаторы)</vt:lpstr>
      <vt:lpstr>Транквилизатор</vt:lpstr>
      <vt:lpstr>Фенобарбитал</vt:lpstr>
      <vt:lpstr>Бензодиазепины</vt:lpstr>
      <vt:lpstr>PowerPoint Presentation</vt:lpstr>
      <vt:lpstr>Дозозависимые эффекты бензадиазепинов и фенобарбитала</vt:lpstr>
      <vt:lpstr>Сравнительная характеристика бензодиазепинов и барбитуратов</vt:lpstr>
      <vt:lpstr>PowerPoint Presentation</vt:lpstr>
      <vt:lpstr>Анксиолитики - применение</vt:lpstr>
      <vt:lpstr>Побочные эффекты БД</vt:lpstr>
      <vt:lpstr>Синдром отмены анкисолитиков</vt:lpstr>
      <vt:lpstr>Атипичные анксиолитики</vt:lpstr>
      <vt:lpstr>PowerPoint Presentation</vt:lpstr>
      <vt:lpstr>PowerPoint Presentation</vt:lpstr>
      <vt:lpstr>Снотворные средства</vt:lpstr>
      <vt:lpstr>PowerPoint Presentation</vt:lpstr>
      <vt:lpstr>Фазы сна</vt:lpstr>
      <vt:lpstr>Сон и бодрствование</vt:lpstr>
      <vt:lpstr>МКБ-10 Расстройства сна (органической природы)</vt:lpstr>
      <vt:lpstr>Медикаментозное лечение:</vt:lpstr>
      <vt:lpstr>Немедикаментозное лечение:</vt:lpstr>
      <vt:lpstr>Снотворные средства</vt:lpstr>
      <vt:lpstr>PowerPoint Presentation</vt:lpstr>
      <vt:lpstr>PowerPoint Presentation</vt:lpstr>
      <vt:lpstr>PowerPoint Presentation</vt:lpstr>
      <vt:lpstr>PowerPoint Presentation</vt:lpstr>
      <vt:lpstr>Мелатонин</vt:lpstr>
      <vt:lpstr>Орексиновые антангонисты</vt:lpstr>
      <vt:lpstr>Орексиновые антангонисты</vt:lpstr>
      <vt:lpstr>Противосудорожные препараты</vt:lpstr>
      <vt:lpstr>Терминология</vt:lpstr>
      <vt:lpstr>Противосудорожные препараты</vt:lpstr>
      <vt:lpstr>Эпилепсия</vt:lpstr>
      <vt:lpstr>Общий механизм противоэпилептических препаратов</vt:lpstr>
      <vt:lpstr>Противоэпилептические средства</vt:lpstr>
      <vt:lpstr>PowerPoint Presentation</vt:lpstr>
      <vt:lpstr>Противоэпилептические средства</vt:lpstr>
      <vt:lpstr>Противоэпилептические средства</vt:lpstr>
      <vt:lpstr>Противоэпилептические средства</vt:lpstr>
      <vt:lpstr>PowerPoint Presentation</vt:lpstr>
      <vt:lpstr>Противоэпилептические средства</vt:lpstr>
      <vt:lpstr>Противоэпилептические средства</vt:lpstr>
      <vt:lpstr>Противоэпилептические препараты не зарегистрированные в России</vt:lpstr>
      <vt:lpstr>Паркинсонизм</vt:lpstr>
      <vt:lpstr>Противопаркинсонические средства</vt:lpstr>
      <vt:lpstr>PowerPoint Presentation</vt:lpstr>
      <vt:lpstr>PowerPoint Presentation</vt:lpstr>
      <vt:lpstr>PowerPoint Presentation</vt:lpstr>
      <vt:lpstr>Противопаркинсонические препараты</vt:lpstr>
      <vt:lpstr>PowerPoint Presentation</vt:lpstr>
      <vt:lpstr>Побочные эффекты леводопы </vt:lpstr>
      <vt:lpstr>Коррекция побочных  эффектов леводопы</vt:lpstr>
      <vt:lpstr>Корректоры побочных эффектов леводопы*</vt:lpstr>
      <vt:lpstr>PowerPoint Presentation</vt:lpstr>
      <vt:lpstr>Противопаркинсонические препараты</vt:lpstr>
      <vt:lpstr>PowerPoint Presentation</vt:lpstr>
      <vt:lpstr>PowerPoint Presentation</vt:lpstr>
      <vt:lpstr>PowerPoint Presentation</vt:lpstr>
      <vt:lpstr>Дисбаланс между холинергическими и дофаминергическими системами в патогенез паркинсонизма</vt:lpstr>
      <vt:lpstr>PowerPoint Presentation</vt:lpstr>
      <vt:lpstr>Психотропные средства стимулирующего действия</vt:lpstr>
      <vt:lpstr>Средства влияющие на ЦНС</vt:lpstr>
      <vt:lpstr>Антидепрессанты</vt:lpstr>
      <vt:lpstr>Депрессия</vt:lpstr>
      <vt:lpstr>"Гормон счастья""Медиатор хорошего настроения"</vt:lpstr>
      <vt:lpstr>Серотониновые рецепторы</vt:lpstr>
      <vt:lpstr>Серотониновые рецепторы</vt:lpstr>
      <vt:lpstr>Серотониновые рецепторы</vt:lpstr>
      <vt:lpstr>Серотониновые рецепторы</vt:lpstr>
      <vt:lpstr>Классификация 5-HT рецепторов</vt:lpstr>
      <vt:lpstr>Серотониновые рецепторы</vt:lpstr>
      <vt:lpstr>Роль дефицита моноаминов в развитии депрессии</vt:lpstr>
      <vt:lpstr>Классификация антидепрессантов</vt:lpstr>
      <vt:lpstr>PowerPoint Presentation</vt:lpstr>
      <vt:lpstr>Химические особенности антидепрессантов</vt:lpstr>
      <vt:lpstr>Трициклические антидепрессанты</vt:lpstr>
      <vt:lpstr>Трициклические антидепрессанты</vt:lpstr>
      <vt:lpstr>Амитриптилин</vt:lpstr>
      <vt:lpstr>Амитриптилин</vt:lpstr>
      <vt:lpstr>Амитриптилин</vt:lpstr>
      <vt:lpstr>PowerPoint Presentation</vt:lpstr>
      <vt:lpstr>PowerPoint Presentation</vt:lpstr>
      <vt:lpstr>PowerPoint Presentation</vt:lpstr>
      <vt:lpstr>PowerPoint Presentation</vt:lpstr>
      <vt:lpstr>II. ПСИХОСТИМУЛЯТОРЫ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III. НООТРОПЫ</vt:lpstr>
      <vt:lpstr>КЛАССИФИКАЦИЯ НООТРОПОВ</vt:lpstr>
      <vt:lpstr>КЛАССИФИКАЦИЯ НООТРОПОВ</vt:lpstr>
      <vt:lpstr>КЛАССИФИКАЦИЯ НООТРОПОВ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Средства, влияющие на функции центральной  нервной системы (нейротропные и психотропные  средства)</dc:title>
  <dc:creator>Учетная запись Майкрософт</dc:creator>
  <cp:lastModifiedBy>Учетная запись Майкрософт</cp:lastModifiedBy>
  <cp:revision>1</cp:revision>
  <dcterms:created xsi:type="dcterms:W3CDTF">2025-04-01T08:49:06Z</dcterms:created>
  <dcterms:modified xsi:type="dcterms:W3CDTF">2026-10-25T19:47:33Z</dcterms:modified>
</cp:coreProperties>
</file>