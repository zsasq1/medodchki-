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761B-7E58-44AF-8A3E-C96FE2199F19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9437-12BF-4177-8D13-41DD635F9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51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4761B-7E58-44AF-8A3E-C96FE2199F19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F9437-12BF-4177-8D13-41DD635F9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3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smtClean="0"/>
              <a:t>Средства, влияющие на перефирические синапсы (адренэргические и холинэргические)</a:t>
            </a:r>
            <a:endParaRPr lang="ru-RU" sz="48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41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Строение периферической нервной системы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25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0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Средства, влияющие на холинергические рецепторы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7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Локализация М- и N-холино-рецепторов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034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2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Классификация холиномиметиков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71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Cholinomimetics: Choline Esters</a:t>
            </a:r>
            <a:r>
              <a:rPr lang="ru-RU" smtClean="0"/>
              <a:t> </a:t>
            </a:r>
            <a:r>
              <a:rPr lang="en-US" smtClean="0"/>
              <a:t>&amp; </a:t>
            </a:r>
            <a:r>
              <a:rPr lang="en-US" altLang="ru-RU" smtClean="0"/>
              <a:t>alkaloids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283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Классификация холиноблокаторов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1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Секреторный и аккомодационный аппарат глаза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32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ФАРМАКОЛОГИЧЕСКИЕ ЭФФЕКТЫ </a:t>
            </a:r>
            <a:b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</a:br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М-ХОЛИНОМИМЕТИКОВ</a:t>
            </a:r>
            <a:endParaRPr lang="ru-RU" altLang="ru-RU" sz="3200" b="1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12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КЛИНИЧЕСКОЕ ПРИМЕНЕНИЕ  М-ХОЛИНОБЛОКАТОРОВ В ОФТАЛЬМОЛОГИИ</a:t>
            </a:r>
            <a:endParaRPr lang="ru-RU" altLang="ru-RU" sz="3200" b="1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763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ДЕЙСТВИЕ М-ХОЛИНЕРГИЧЕСКИХ СРЕДСТВ НА СЕРДЦЕ </a:t>
            </a:r>
            <a:b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</a:br>
            <a:endParaRPr lang="ru-RU" altLang="ru-RU" sz="3200" b="1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95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ДЕЙСТВИЕ М-ХОЛИНЕРГИЧЕСКИХ СРЕДСТВ НА ЛЁГКИЕ </a:t>
            </a:r>
            <a:b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</a:br>
            <a:endParaRPr lang="ru-RU" altLang="ru-RU" sz="3200" b="1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11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ДЕЙСТВИЕ М-ХОЛИНЕРГИЧЕСКИХ СРЕДСТВ НА ЖКТ </a:t>
            </a:r>
            <a:b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</a:br>
            <a:endParaRPr lang="ru-RU" altLang="ru-RU" sz="3200" b="1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67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ДЕЙСТВИЕ М-ХОЛИНЕРГИЧЕСКИХ СРЕДСТВ НА МПС </a:t>
            </a:r>
            <a:b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</a:br>
            <a:endParaRPr lang="ru-RU" altLang="ru-RU" sz="3200" b="1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993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Ингибиторы ацетихолинестеразы</a:t>
            </a:r>
            <a:r>
              <a:rPr lang="ru-RU" altLang="ru-RU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 </a:t>
            </a:r>
            <a:br>
              <a:rPr lang="ru-RU" altLang="ru-RU" b="1" smtClean="0">
                <a:solidFill>
                  <a:schemeClr val="accent2"/>
                </a:solidFill>
                <a:latin typeface="Arial Narrow" panose="020B0606020202030204" pitchFamily="34" charset="0"/>
              </a:rPr>
            </a:br>
            <a:r>
              <a:rPr lang="ru-RU" altLang="ru-RU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(антихолинестеразные средства) </a:t>
            </a:r>
            <a:endParaRPr lang="ru-RU" altLang="ru-RU" b="1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20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b="1" smtClean="0">
                <a:solidFill>
                  <a:schemeClr val="accent1">
                    <a:lumMod val="75000"/>
                  </a:schemeClr>
                </a:solidFill>
              </a:rPr>
              <a:t>Ингибиторы АЦХЭ</a:t>
            </a:r>
            <a:endParaRPr lang="ru-RU" alt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21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b="1" smtClean="0">
                <a:solidFill>
                  <a:schemeClr val="accent1">
                    <a:lumMod val="75000"/>
                  </a:schemeClr>
                </a:solidFill>
              </a:rPr>
              <a:t>ФАРМАКОЛОГИЧЕСКИЕ ЭФФЕКТЫ </a:t>
            </a:r>
            <a:r>
              <a:rPr lang="ru-RU" altLang="ru-RU" smtClean="0">
                <a:solidFill>
                  <a:schemeClr val="accent1">
                    <a:lumMod val="75000"/>
                  </a:schemeClr>
                </a:solidFill>
              </a:rPr>
              <a:t>антихолинестеразных средств</a:t>
            </a:r>
            <a:endParaRPr lang="ru-RU" alt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47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b="1" smtClean="0">
                <a:solidFill>
                  <a:schemeClr val="accent1">
                    <a:lumMod val="75000"/>
                  </a:schemeClr>
                </a:solidFill>
              </a:rPr>
              <a:t>ФАРМАКОЛОГИЧЕСКИЕ ЭФФЕКТЫ </a:t>
            </a:r>
            <a:r>
              <a:rPr lang="ru-RU" altLang="ru-RU" smtClean="0">
                <a:solidFill>
                  <a:schemeClr val="accent1">
                    <a:lumMod val="75000"/>
                  </a:schemeClr>
                </a:solidFill>
              </a:rPr>
              <a:t>антихолинестеразных средств</a:t>
            </a:r>
            <a:endParaRPr lang="ru-RU" alt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02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Механизм действия ФОС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Реактиваторы ацетилхолинэстеразы 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46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ru-RU" altLang="ru-RU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КЛИНИЧЕСКОЕ ПРИМЕНЕНИЕ АНТИХОЛИНЕСТЕРАЗНЫХ СРЕДСТВ</a:t>
            </a:r>
            <a:endParaRPr lang="ru-RU" altLang="ru-RU" b="1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97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РАЗЛИЧИЯ МИАСТЕНИЧЕСКОГО И ХОЛИНЕРГИЧЕСКОГО КРИЗИСА</a:t>
            </a:r>
            <a:endParaRPr lang="ru-RU" altLang="ru-RU" sz="3200" b="1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04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ru-RU" altLang="ru-RU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КЛИНИЧЕСКОЕ ПРИМЕНЕНИЕ АНТИХОЛИНЕСТЕРАЗНЫХ СРЕДСТВ</a:t>
            </a:r>
            <a:endParaRPr lang="ru-RU" altLang="ru-RU" b="1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4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ru-RU" altLang="ru-RU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КЛИНИЧЕСКОЕ ПРИМЕНЕНИЕ АНТИХОЛИНЕСТЕРАЗНЫХ СРЕДСТВ</a:t>
            </a:r>
            <a:endParaRPr lang="ru-RU" altLang="ru-RU" b="1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89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ru-RU" altLang="ru-RU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ТЕРАПИЯ ОТРАВЛЕНИЙ ХОЛИНОМИМЕТИКАМИ</a:t>
            </a:r>
            <a:endParaRPr lang="ru-RU" altLang="ru-RU" b="1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28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ФАРМАКОЛОГИЧЕСКИЕ ЭФФЕКТЫ</a:t>
            </a:r>
            <a:b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</a:br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Н-ХОЛИНОМИМЕТИКОВ</a:t>
            </a:r>
            <a:b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</a:br>
            <a:r>
              <a:rPr lang="ru-RU" altLang="ru-RU" sz="3200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(никотин, лобелин, цититон)</a:t>
            </a:r>
            <a:endParaRPr lang="ru-RU" altLang="ru-RU" sz="3200" b="1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04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69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29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94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4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НИКОТИНОВЫЕ АНТАГОНИСТЫ</a:t>
            </a:r>
            <a:endParaRPr lang="en-US" sz="4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76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Нервно-мышечный синапс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40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smtClean="0">
                <a:latin typeface="Arial Narrow" panose="020B0606020202030204" pitchFamily="34" charset="0"/>
              </a:rPr>
              <a:t> </a:t>
            </a:r>
            <a:r>
              <a:rPr lang="ru-RU" altLang="ru-RU" b="1" smtClean="0">
                <a:latin typeface="Arial Narrow" panose="020B0606020202030204" pitchFamily="34" charset="0"/>
              </a:rPr>
              <a:t>Д</a:t>
            </a:r>
            <a:r>
              <a:rPr lang="ru-RU" altLang="ru-RU" sz="3200" b="1" smtClean="0">
                <a:solidFill>
                  <a:schemeClr val="tx1"/>
                </a:solidFill>
              </a:rPr>
              <a:t>еполяризующие миорелаксанты</a:t>
            </a:r>
            <a:r>
              <a:rPr lang="en-US" altLang="ru-RU" smtClean="0">
                <a:latin typeface="Arial Narrow" panose="020B0606020202030204" pitchFamily="34" charset="0"/>
              </a:rPr>
              <a:t> </a:t>
            </a:r>
            <a:r>
              <a:rPr lang="ru-RU" altLang="ru-RU" smtClean="0">
                <a:latin typeface="Arial Narrow" panose="020B0606020202030204" pitchFamily="34" charset="0"/>
              </a:rPr>
              <a:t>Суксаметония йодид</a:t>
            </a:r>
            <a:endParaRPr lang="en-US" altLang="ru-RU" sz="4000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428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>
                <a:solidFill>
                  <a:schemeClr val="tx1"/>
                </a:solidFill>
              </a:rPr>
              <a:t>Суксаметония йодид</a:t>
            </a:r>
            <a:endParaRPr lang="en-US" alt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45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ru-RU" altLang="ru-RU" sz="4000" smtClean="0">
                <a:solidFill>
                  <a:schemeClr val="tx1"/>
                </a:solidFill>
                <a:latin typeface="Arial Narrow" panose="020B0606020202030204" pitchFamily="34" charset="0"/>
              </a:rPr>
              <a:t>Скорость наступления и длительность действия миорелаксантов</a:t>
            </a:r>
            <a:endParaRPr lang="en-US" altLang="ru-RU" sz="40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83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>
                <a:solidFill>
                  <a:schemeClr val="tx1"/>
                </a:solidFill>
                <a:latin typeface="Arial Narrow" panose="020B0606020202030204" pitchFamily="34" charset="0"/>
              </a:rPr>
              <a:t>Миорелаксанты</a:t>
            </a:r>
            <a:r>
              <a:rPr lang="en-US" altLang="ru-RU" smtClean="0">
                <a:solidFill>
                  <a:schemeClr val="tx1"/>
                </a:solidFill>
                <a:latin typeface="Arial Narrow" panose="020B0606020202030204" pitchFamily="34" charset="0"/>
              </a:rPr>
              <a:t/>
            </a:r>
            <a:br>
              <a:rPr lang="en-US" altLang="ru-RU" smtClean="0">
                <a:solidFill>
                  <a:schemeClr val="tx1"/>
                </a:solidFill>
                <a:latin typeface="Arial Narrow" panose="020B0606020202030204" pitchFamily="34" charset="0"/>
              </a:rPr>
            </a:br>
            <a:r>
              <a:rPr lang="ru-RU" altLang="ru-RU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Терапевтическое применение</a:t>
            </a:r>
            <a:r>
              <a:rPr lang="en-US" altLang="ru-RU" b="1" smtClean="0">
                <a:solidFill>
                  <a:schemeClr val="accent2"/>
                </a:solidFill>
                <a:latin typeface="Arial Narrow" panose="020B0606020202030204" pitchFamily="34" charset="0"/>
              </a:rPr>
              <a:t>:</a:t>
            </a:r>
            <a:endParaRPr lang="en-US" altLang="ru-RU" b="1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662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smtClean="0">
                <a:solidFill>
                  <a:schemeClr val="tx1"/>
                </a:solidFill>
                <a:latin typeface="Arial Narrow" panose="020B0606020202030204" pitchFamily="34" charset="0"/>
              </a:rPr>
              <a:t>Побочное действие миорелаксантов</a:t>
            </a:r>
            <a:endParaRPr lang="en-US" altLang="ru-RU" sz="40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36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>
                <a:solidFill>
                  <a:schemeClr val="tx1"/>
                </a:solidFill>
              </a:rPr>
              <a:t>Суксаметония йодид</a:t>
            </a:r>
            <a:endParaRPr lang="en-US" alt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645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</a:t>
            </a:r>
            <a:r>
              <a:rPr lang="ru-RU" baseline="-25000" smtClean="0"/>
              <a:t>Н</a:t>
            </a:r>
            <a:r>
              <a:rPr lang="ru-RU" smtClean="0"/>
              <a:t>-холиноблокаторы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79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 b="1" smtClean="0"/>
              <a:t>ГАНГЛИОБЛОКИРУЮЩИЕ СРЕДСТВА</a:t>
            </a:r>
            <a:endParaRPr lang="ru-RU" altLang="ru-RU" sz="3200" b="1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244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 b="1" smtClean="0"/>
              <a:t>ГАНГЛИОБЛОКИРУЮЩИЕ СРЕДСТВА</a:t>
            </a:r>
            <a:endParaRPr lang="ru-RU" altLang="ru-RU" sz="3200" b="1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57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АДРЕНЭРГИЧЕСКИЕ</a:t>
            </a:r>
            <a:br>
              <a:rPr lang="ru-RU" smtClean="0"/>
            </a:br>
            <a:r>
              <a:rPr lang="ru-RU" smtClean="0"/>
              <a:t>СРЕДСТВА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065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058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294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Обмен катехоламинов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38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782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ДВОЙНАЯ ИННЕРВАЦИЯ ВЕГЕТАТИВНАЯ ИННЕРВАЦИЯ ОРГАНОВ</a:t>
            </a:r>
            <a:endParaRPr lang="en-US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779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ОСОБАЯ ВЕГЕТАТИВНАЯ ИННЕРВАЦИЯ ВНУТРЕННИХ ОРГАНОВ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28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6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177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446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716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Адренергические рецепторы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122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Анатомическая локализация адренорецепторов 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515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Анатомическая локализация адренорецепторов 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52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Классификация адренергических средств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877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1844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ЭФЕДРИН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173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Селективные ингибиторы обратного захвата норадреналина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03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MAO and COMT inhibitors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413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Ингибиторы МАО и СОМТ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3330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Симпатолитики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371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Показания к применению </a:t>
            </a:r>
            <a:r>
              <a:rPr lang="ru-RU" altLang="ru-RU" smtClean="0">
                <a:sym typeface="Symbol" panose="05050102010706020507" pitchFamily="18" charset="2"/>
              </a:rPr>
              <a:t></a:t>
            </a:r>
            <a:r>
              <a:rPr lang="ru-RU" altLang="ru-RU" smtClean="0"/>
              <a:t>,</a:t>
            </a:r>
            <a:r>
              <a:rPr lang="ru-RU" altLang="ru-RU" smtClean="0">
                <a:sym typeface="Symbol" panose="05050102010706020507" pitchFamily="18" charset="2"/>
              </a:rPr>
              <a:t></a:t>
            </a:r>
            <a:r>
              <a:rPr lang="ru-RU" altLang="ru-RU" smtClean="0"/>
              <a:t>-адреномиметиков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824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Показания к применению селективных </a:t>
            </a:r>
            <a:r>
              <a:rPr lang="el-GR" altLang="ru-RU" smtClean="0"/>
              <a:t>α</a:t>
            </a:r>
            <a:r>
              <a:rPr lang="ru-RU" altLang="ru-RU" smtClean="0"/>
              <a:t>- и </a:t>
            </a:r>
            <a:r>
              <a:rPr lang="el-GR" altLang="ru-RU" smtClean="0"/>
              <a:t>β</a:t>
            </a:r>
            <a:r>
              <a:rPr lang="ru-RU" altLang="ru-RU" smtClean="0"/>
              <a:t>-адреномиметиков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466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Центральные </a:t>
            </a:r>
            <a:r>
              <a:rPr lang="el-GR" smtClean="0">
                <a:latin typeface="Trebuchet MS" panose="020B0603020202020204" pitchFamily="34" charset="0"/>
              </a:rPr>
              <a:t>α</a:t>
            </a:r>
            <a:r>
              <a:rPr lang="en-US" baseline="-25000" smtClean="0"/>
              <a:t>2</a:t>
            </a:r>
            <a:r>
              <a:rPr lang="en-US" smtClean="0"/>
              <a:t>-</a:t>
            </a:r>
            <a:r>
              <a:rPr lang="ru-RU" smtClean="0"/>
              <a:t>адреномиметики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44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189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8473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600" smtClean="0"/>
              <a:t>Показания к применению адреноблокаторов</a:t>
            </a:r>
            <a:endParaRPr lang="ru-RU" altLang="ru-RU" sz="26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77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512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173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701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8214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Периферические </a:t>
            </a:r>
            <a:br>
              <a:rPr lang="ru-RU" altLang="ru-RU" smtClean="0"/>
            </a:br>
            <a:r>
              <a:rPr lang="el-GR" altLang="ru-RU" smtClean="0"/>
              <a:t>α</a:t>
            </a:r>
            <a:r>
              <a:rPr lang="ru-RU" altLang="ru-RU" baseline="-25000" smtClean="0"/>
              <a:t>1</a:t>
            </a:r>
            <a:r>
              <a:rPr lang="ru-RU" altLang="ru-RU" smtClean="0">
                <a:latin typeface="Trebuchet MS" panose="020B0603020202020204" pitchFamily="34" charset="0"/>
              </a:rPr>
              <a:t>-</a:t>
            </a:r>
            <a:r>
              <a:rPr lang="ru-RU" altLang="ru-RU" smtClean="0"/>
              <a:t>адреноблокаторы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479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Центральные</a:t>
            </a:r>
            <a:br>
              <a:rPr lang="ru-RU" altLang="ru-RU" smtClean="0"/>
            </a:br>
            <a:r>
              <a:rPr lang="el-GR" altLang="ru-RU" smtClean="0">
                <a:latin typeface="Trebuchet MS" panose="020B0603020202020204" pitchFamily="34" charset="0"/>
              </a:rPr>
              <a:t>α</a:t>
            </a:r>
            <a:r>
              <a:rPr lang="ru-RU" altLang="ru-RU" baseline="-25000" smtClean="0">
                <a:latin typeface="Trebuchet MS" panose="020B0603020202020204" pitchFamily="34" charset="0"/>
              </a:rPr>
              <a:t>2</a:t>
            </a:r>
            <a:r>
              <a:rPr lang="ru-RU" altLang="ru-RU" smtClean="0">
                <a:latin typeface="Trebuchet MS" panose="020B0603020202020204" pitchFamily="34" charset="0"/>
              </a:rPr>
              <a:t>-</a:t>
            </a:r>
            <a:r>
              <a:rPr lang="ru-RU" altLang="ru-RU" smtClean="0"/>
              <a:t>адреноблокаторы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277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15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Широкоэкранный</PresentationFormat>
  <Paragraphs>56</Paragraphs>
  <Slides>76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76</vt:i4>
      </vt:variant>
    </vt:vector>
  </HeadingPairs>
  <TitlesOfParts>
    <vt:vector size="83" baseType="lpstr">
      <vt:lpstr>Arial</vt:lpstr>
      <vt:lpstr>Arial Narrow</vt:lpstr>
      <vt:lpstr>Calibri</vt:lpstr>
      <vt:lpstr>Calibri Light</vt:lpstr>
      <vt:lpstr>Symbol</vt:lpstr>
      <vt:lpstr>Trebuchet MS</vt:lpstr>
      <vt:lpstr>Тема Office</vt:lpstr>
      <vt:lpstr>Средства, влияющие на перефирические синапсы (адренэргические и холинэргические)</vt:lpstr>
      <vt:lpstr>Строение периферической нервной системы</vt:lpstr>
      <vt:lpstr>Презентация PowerPoint</vt:lpstr>
      <vt:lpstr>Средства, влияющие на холинергические рецепторы</vt:lpstr>
      <vt:lpstr>Локализация М- и N-холино-рецепторов</vt:lpstr>
      <vt:lpstr>Презентация PowerPoint</vt:lpstr>
      <vt:lpstr>Классификация холиномиметиков</vt:lpstr>
      <vt:lpstr>Cholinomimetics: Choline Esters &amp; alkaloids</vt:lpstr>
      <vt:lpstr>Классификация холиноблокаторов</vt:lpstr>
      <vt:lpstr>Секреторный и аккомодационный аппарат глаза</vt:lpstr>
      <vt:lpstr>ФАРМАКОЛОГИЧЕСКИЕ ЭФФЕКТЫ  М-ХОЛИНОМИМЕТИКОВ</vt:lpstr>
      <vt:lpstr>КЛИНИЧЕСКОЕ ПРИМЕНЕНИЕ  М-ХОЛИНОБЛОКАТОРОВ В ОФТАЛЬМОЛОГИИ</vt:lpstr>
      <vt:lpstr>ДЕЙСТВИЕ М-ХОЛИНЕРГИЧЕСКИХ СРЕДСТВ НА СЕРДЦЕ  </vt:lpstr>
      <vt:lpstr>ДЕЙСТВИЕ М-ХОЛИНЕРГИЧЕСКИХ СРЕДСТВ НА ЛЁГКИЕ  </vt:lpstr>
      <vt:lpstr>ДЕЙСТВИЕ М-ХОЛИНЕРГИЧЕСКИХ СРЕДСТВ НА ЖКТ  </vt:lpstr>
      <vt:lpstr>ДЕЙСТВИЕ М-ХОЛИНЕРГИЧЕСКИХ СРЕДСТВ НА МПС  </vt:lpstr>
      <vt:lpstr>Ингибиторы ацетихолинестеразы  (антихолинестеразные средства) </vt:lpstr>
      <vt:lpstr>Ингибиторы АЦХЭ</vt:lpstr>
      <vt:lpstr>ФАРМАКОЛОГИЧЕСКИЕ ЭФФЕКТЫ антихолинестеразных средств</vt:lpstr>
      <vt:lpstr>ФАРМАКОЛОГИЧЕСКИЕ ЭФФЕКТЫ антихолинестеразных средств</vt:lpstr>
      <vt:lpstr>Механизм действия ФОС</vt:lpstr>
      <vt:lpstr>Реактиваторы ацетилхолинэстеразы </vt:lpstr>
      <vt:lpstr>КЛИНИЧЕСКОЕ ПРИМЕНЕНИЕ АНТИХОЛИНЕСТЕРАЗНЫХ СРЕДСТВ</vt:lpstr>
      <vt:lpstr>РАЗЛИЧИЯ МИАСТЕНИЧЕСКОГО И ХОЛИНЕРГИЧЕСКОГО КРИЗИСА</vt:lpstr>
      <vt:lpstr>КЛИНИЧЕСКОЕ ПРИМЕНЕНИЕ АНТИХОЛИНЕСТЕРАЗНЫХ СРЕДСТВ</vt:lpstr>
      <vt:lpstr>КЛИНИЧЕСКОЕ ПРИМЕНЕНИЕ АНТИХОЛИНЕСТЕРАЗНЫХ СРЕДСТВ</vt:lpstr>
      <vt:lpstr>ТЕРАПИЯ ОТРАВЛЕНИЙ ХОЛИНОМИМЕТИКАМИ</vt:lpstr>
      <vt:lpstr>ФАРМАКОЛОГИЧЕСКИЕ ЭФФЕКТЫ Н-ХОЛИНОМИМЕТИКОВ (никотин, лобелин, цититон)</vt:lpstr>
      <vt:lpstr>Презентация PowerPoint</vt:lpstr>
      <vt:lpstr>Презентация PowerPoint</vt:lpstr>
      <vt:lpstr>Презентация PowerPoint</vt:lpstr>
      <vt:lpstr>НИКОТИНОВЫЕ АНТАГОНИСТЫ</vt:lpstr>
      <vt:lpstr>Нервно-мышечный синапс</vt:lpstr>
      <vt:lpstr> Деполяризующие миорелаксанты Суксаметония йодид</vt:lpstr>
      <vt:lpstr>Суксаметония йодид</vt:lpstr>
      <vt:lpstr>Скорость наступления и длительность действия миорелаксантов</vt:lpstr>
      <vt:lpstr>Миорелаксанты Терапевтическое применение:</vt:lpstr>
      <vt:lpstr>Побочное действие миорелаксантов</vt:lpstr>
      <vt:lpstr>Суксаметония йодид</vt:lpstr>
      <vt:lpstr>НН-холиноблокаторы</vt:lpstr>
      <vt:lpstr>ГАНГЛИОБЛОКИРУЮЩИЕ СРЕДСТВА</vt:lpstr>
      <vt:lpstr>ГАНГЛИОБЛОКИРУЮЩИЕ СРЕДСТВА</vt:lpstr>
      <vt:lpstr>АДРЕНЭРГИЧЕСКИЕ СРЕДСТВА</vt:lpstr>
      <vt:lpstr>Презентация PowerPoint</vt:lpstr>
      <vt:lpstr>Презентация PowerPoint</vt:lpstr>
      <vt:lpstr>Обмен катехоламинов</vt:lpstr>
      <vt:lpstr>Презентация PowerPoint</vt:lpstr>
      <vt:lpstr>ДВОЙНАЯ ИННЕРВАЦИЯ ВЕГЕТАТИВНАЯ ИННЕРВАЦИЯ ОРГАНОВ</vt:lpstr>
      <vt:lpstr>ОСОБАЯ ВЕГЕТАТИВНАЯ ИННЕРВАЦИЯ ВНУТРЕННИХ ОРГАНОВ</vt:lpstr>
      <vt:lpstr>Презентация PowerPoint</vt:lpstr>
      <vt:lpstr>Презентация PowerPoint</vt:lpstr>
      <vt:lpstr>Презентация PowerPoint</vt:lpstr>
      <vt:lpstr>Презентация PowerPoint</vt:lpstr>
      <vt:lpstr>Адренергические рецепторы</vt:lpstr>
      <vt:lpstr>Анатомическая локализация адренорецепторов </vt:lpstr>
      <vt:lpstr>Анатомическая локализация адренорецепторов </vt:lpstr>
      <vt:lpstr>Классификация адренергических средств</vt:lpstr>
      <vt:lpstr>Презентация PowerPoint</vt:lpstr>
      <vt:lpstr>ЭФЕДРИН</vt:lpstr>
      <vt:lpstr>Селективные ингибиторы обратного захвата норадреналина</vt:lpstr>
      <vt:lpstr>MAO and COMT inhibitors</vt:lpstr>
      <vt:lpstr>Ингибиторы МАО и СОМТ</vt:lpstr>
      <vt:lpstr>Симпатолитики</vt:lpstr>
      <vt:lpstr>Показания к применению ,-адреномиметиков</vt:lpstr>
      <vt:lpstr>Показания к применению селективных α- и β-адреномиметиков</vt:lpstr>
      <vt:lpstr>Центральные α2-адреномиметики</vt:lpstr>
      <vt:lpstr>Презентация PowerPoint</vt:lpstr>
      <vt:lpstr>Презентация PowerPoint</vt:lpstr>
      <vt:lpstr>Показания к применению адреноблокаторов</vt:lpstr>
      <vt:lpstr>Презентация PowerPoint</vt:lpstr>
      <vt:lpstr>Презентация PowerPoint</vt:lpstr>
      <vt:lpstr>Презентация PowerPoint</vt:lpstr>
      <vt:lpstr>Презентация PowerPoint</vt:lpstr>
      <vt:lpstr>Периферические  α1-адреноблокаторы</vt:lpstr>
      <vt:lpstr>Центральные α2-адреноблокаторы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Средства, влияющие на перефирические синапсы (адренэргические и холинэргические)</dc:title>
  <dc:creator>Alex Galkin</dc:creator>
  <cp:lastModifiedBy>Alex Galkin</cp:lastModifiedBy>
  <cp:revision>1</cp:revision>
  <dcterms:created xsi:type="dcterms:W3CDTF">2025-03-31T16:31:23Z</dcterms:created>
  <dcterms:modified xsi:type="dcterms:W3CDTF">2025-03-31T16:31:23Z</dcterms:modified>
</cp:coreProperties>
</file>