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28" Type="http://schemas.openxmlformats.org/officeDocument/2006/relationships/presProps" Target="presProps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26" Type="http://schemas.openxmlformats.org/officeDocument/2006/relationships/slide" Target="slides/slide12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124" Type="http://schemas.openxmlformats.org/officeDocument/2006/relationships/slide" Target="slides/slide123.xml"/><Relationship Id="rId12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3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tableStyles" Target="tableStyles.xml"/><Relationship Id="rId61" Type="http://schemas.openxmlformats.org/officeDocument/2006/relationships/slide" Target="slides/slide60.xml"/><Relationship Id="rId82" Type="http://schemas.openxmlformats.org/officeDocument/2006/relationships/slide" Target="slides/slide8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CE4D0-D40B-424B-A75C-074685B57D83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D90AF2-D887-4FEE-B7BF-22CB5405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7076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BCE4D0-D40B-424B-A75C-074685B57D83}" type="datetimeFigureOut">
              <a:rPr lang="ru-RU" smtClean="0"/>
              <a:t>31.03.2025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90AF2-D887-4FEE-B7BF-22CB5405D78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61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jpe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jpe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jpe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jpe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jpe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jpe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jpe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jpe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jpe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jpe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jpe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jpe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jpe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jpe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jpe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jpe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jpe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jpe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jpe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jpe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jpe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jpe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jpe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jpe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jpe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jpe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jpe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jpe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jpe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jpe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jpe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jpe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jpe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jpe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jpe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jpe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jpe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jpe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jpe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jpe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jpe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jpe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jpe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jpe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jpe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jpe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Общая фармакология: фармакокинетика, общая рецептура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17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2329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255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6721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Фармакокинетика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47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Фармакокинетика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85705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Фармакокинетика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2564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Фармакокинетика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174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Гистогематические барьеры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43306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Гематоэнцефалический барьер (ГЭБ)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13135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Гематоплацентарный барьер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66918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Absorption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7631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The Absorption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7494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Фармакокинетическая кривая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4583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Биодоступность при в/в введении 100%</a:t>
            </a:r>
            <a:r>
              <a:rPr lang="it-IT" smtClean="0"/>
              <a:t> </a:t>
            </a:r>
            <a:br>
              <a:rPr lang="it-IT" smtClean="0"/>
            </a:br>
            <a:endParaRPr lang="it-IT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2663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Биодоступность при в/в введении 100%</a:t>
            </a:r>
            <a:r>
              <a:rPr lang="it-IT" smtClean="0"/>
              <a:t> </a:t>
            </a:r>
            <a:br>
              <a:rPr lang="it-IT" smtClean="0"/>
            </a:br>
            <a:endParaRPr lang="it-IT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8502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9601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175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sz="3200" smtClean="0">
                <a:latin typeface="Tahoma" pitchFamily="34" charset="0"/>
              </a:rPr>
              <a:t>Зависимость кривой концентрации от пути введения ЛВ </a:t>
            </a:r>
            <a:endParaRPr lang="ru-RU" sz="3200" dirty="0">
              <a:latin typeface="Tahoma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4098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Фармакокинетическая кривая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2187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Фармакокинетика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77871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Фармакокинетика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59323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097111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134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Фармакокинетика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2966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Фармакокинетика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25248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Метаболизм ЛВ</a:t>
            </a:r>
            <a:r>
              <a:rPr lang="it-IT" smtClean="0"/>
              <a:t> </a:t>
            </a:r>
            <a:br>
              <a:rPr lang="it-IT" smtClean="0"/>
            </a:br>
            <a:endParaRPr lang="it-IT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90171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smtClean="0">
                <a:solidFill>
                  <a:schemeClr val="tx1"/>
                </a:solidFill>
                <a:latin typeface="Tahoma" pitchFamily="34" charset="0"/>
              </a:rPr>
              <a:t>Метаболизм ЛВ</a:t>
            </a:r>
            <a:br>
              <a:rPr lang="ru-RU" smtClean="0">
                <a:solidFill>
                  <a:schemeClr val="tx1"/>
                </a:solidFill>
                <a:latin typeface="Tahoma" pitchFamily="34" charset="0"/>
              </a:rPr>
            </a:br>
            <a:r>
              <a:rPr lang="ru-RU" smtClean="0">
                <a:solidFill>
                  <a:schemeClr val="tx1"/>
                </a:solidFill>
                <a:latin typeface="Tahoma" pitchFamily="34" charset="0"/>
              </a:rPr>
              <a:t>(биологическая трансформация)</a:t>
            </a:r>
            <a:endParaRPr lang="it-IT" dirty="0">
              <a:solidFill>
                <a:schemeClr val="tx1"/>
              </a:solidFill>
              <a:latin typeface="Tahoma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248274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74865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38767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56419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1320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31085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Влияние ЛВ на активность микросомальных ферментов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52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61551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5359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Период полувыведения</a:t>
            </a:r>
            <a:r>
              <a:rPr lang="en-US" smtClean="0"/>
              <a:t> </a:t>
            </a:r>
            <a:r>
              <a:rPr lang="ru-RU" smtClean="0"/>
              <a:t>ЛВ – </a:t>
            </a:r>
            <a:r>
              <a:rPr lang="en-US" smtClean="0"/>
              <a:t>T</a:t>
            </a:r>
            <a:r>
              <a:rPr lang="en-US" baseline="-25000" smtClean="0"/>
              <a:t>1/2</a:t>
            </a:r>
            <a:endParaRPr lang="ru-RU" baseline="-250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3367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Связывание ЛВ с белками плазмы крови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4762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Связывание ЛВ с белками плазмы крови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993596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Фармакокинетика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75769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30133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Принципы лечения (острых) медикаментозных отравлений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7099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Причины острых лекарственных отравлений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665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4709816"/>
      </p:ext>
    </p:extLst>
  </p:cSld>
  <p:clrMapOvr>
    <a:masterClrMapping/>
  </p:clrMapOvr>
  <p:transition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6143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284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969668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072545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ru-RU" sz="4000" smtClean="0">
                <a:solidFill>
                  <a:schemeClr val="tx1"/>
                </a:solidFill>
                <a:latin typeface="Tahoma" pitchFamily="34" charset="0"/>
              </a:rPr>
              <a:t>Что пациент должен знать о лекарстве</a:t>
            </a:r>
            <a:endParaRPr lang="ru-RU" sz="4000" dirty="0">
              <a:solidFill>
                <a:schemeClr val="tx1"/>
              </a:solidFill>
              <a:latin typeface="Tahoma" pitchFamily="34" charset="0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01038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688503"/>
      </p:ext>
    </p:extLst>
  </p:cSld>
  <p:clrMapOvr>
    <a:masterClrMapping/>
  </p:clrMapOvr>
  <p:transition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Общая рецептура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04097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История фармакологии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586347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Технология получения лекарств = история фармакологии и фармации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498214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76862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218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49179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Биологически активные вещества растений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277406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Алкалодиды 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98244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Гликозиды 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74059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Эфирные масла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680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Сапонины 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1437345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Горечи 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4253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Кумарины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681424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Технология получения лекарственных препаратов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66290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Производство и приготовление лекарственных препаратов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83704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Что такое рецепт?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11166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Пример рецепта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723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8961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Технология приготовления определяет вид выписываемого рецепта</a:t>
            </a:r>
            <a:endParaRPr lang="ru-RU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40085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Мануальные и просты рецепты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32318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Состав лекарственных препаратов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6767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Твёрдые лекарственные формы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581503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Порошки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7452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958124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534027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062950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Стадии изготовления порошков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1253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6563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sz="4800" smtClean="0"/>
              <a:t>Растворы</a:t>
            </a:r>
            <a:endParaRPr lang="ru-RU" sz="4800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8609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i="1" smtClean="0"/>
              <a:t>Классификация дисперсных систем</a:t>
            </a:r>
            <a:endParaRPr lang="ru-RU" i="1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10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Истинные растворы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23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5400" smtClean="0">
                <a:solidFill>
                  <a:schemeClr val="accent2">
                    <a:lumMod val="50000"/>
                  </a:schemeClr>
                </a:solidFill>
              </a:rPr>
              <a:t>Коллоидные растворы</a:t>
            </a:r>
            <a:endParaRPr lang="ru-RU" sz="5400" dirty="0">
              <a:solidFill>
                <a:schemeClr val="accent2">
                  <a:lumMod val="50000"/>
                </a:schemeClr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727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Группы ЛП коллоидной природы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3203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РАСТВОРЫ ВЫСОКОМОЛЕКУЛЯРНЫХ СОЕДИНЕНИЙ (ВМС)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0851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Экстракция – настои и отвары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826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z="3600" i="1" smtClean="0"/>
              <a:t>Экстракция по Сокслету</a:t>
            </a:r>
            <a:endParaRPr lang="ru-RU" sz="3600" i="1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34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Инфундирный аппарат для водных извлечений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799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525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Особенности изготовления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8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МАЗИ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72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99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Линименты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113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Суппозитории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64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cap="none" smtClean="0"/>
              <a:t>Стереохимические основы создания лекарственных средств</a:t>
            </a:r>
            <a:endParaRPr lang="ru-RU" cap="none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036080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Термины стереофармакологии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6685191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Стереоизомерия лекарственных средств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311457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Типы стереоизомерии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665708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Стереоизомерия лекарственных средств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64336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Методы разделения стереоизомеров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359564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Фундаментальные открытия в</a:t>
            </a:r>
            <a:br>
              <a:rPr lang="ru-RU" smtClean="0"/>
            </a:br>
            <a:r>
              <a:rPr lang="ru-RU" smtClean="0"/>
              <a:t>области стереохимии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1988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НАНОТЕХНОЛОГИИ</a:t>
            </a:r>
            <a:endParaRPr lang="ru-RU" dirty="0" smtClean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7148737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Нанотехнологии в фармакологии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917889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Нанотехнологии в фармакологии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6028023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z="4000" smtClean="0">
                <a:solidFill>
                  <a:srgbClr val="FFFF00"/>
                </a:solidFill>
              </a:rPr>
              <a:t>ТРАНСПОРТНЫЕ СВОЙСТВА НАНОЧАСТИЦ</a:t>
            </a:r>
            <a:endParaRPr lang="ru-RU" sz="4000">
              <a:solidFill>
                <a:srgbClr val="FFFF00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3840309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270777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Многоуровневая система доставки препарата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021973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Взаимодействие наночастиц с клеткой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70733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Пути использования наночастиц для создания лекарств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938260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НОВЫЕ ЛЕКАРСТВЕННЫЕ ФОРМЫ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9302040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Направления создания новых систем и средств доставки лекарств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352404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Виды пероральных лекарственных форм с модифицированным высвобождением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894235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Технологии модифицированного высвобождения ЛВ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653596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mtClean="0"/>
              <a:t>Различные виды матриксов лекарств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115425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mtClean="0"/>
              <a:t>Схема строения таблетки осмотического действия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052574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479109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ru-RU" sz="3200" smtClean="0">
                <a:solidFill>
                  <a:srgbClr val="FFFF00"/>
                </a:solidFill>
              </a:rPr>
              <a:t>СТРОЕНИЕ ТАБЛЕТКИ С СИСТЕМОЙ МНОЖЕСТВЕННЫХ ПЕЛЛЕТ</a:t>
            </a:r>
            <a:endParaRPr lang="ru-RU" sz="3200">
              <a:solidFill>
                <a:srgbClr val="FFFF00"/>
              </a:solidFill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0139113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590472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079062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467072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Новые пути доставки ЛВ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0016068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Новые пути доставки ЛВ</a:t>
            </a:r>
            <a:endParaRPr lang="ru-RU" dirty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89213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СТРУКТУРА ТТС</a:t>
            </a:r>
            <a:endParaRPr lang="ru-RU" smtClean="0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8928648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732820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02425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518864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ts val="1000"/>
              </a:spcBef>
              <a:buClr>
                <a:schemeClr val="accent1"/>
              </a:buClr>
            </a:pPr>
            <a:r>
              <a:rPr lang="ru-RU" sz="2800" b="1" smtClean="0">
                <a:solidFill>
                  <a:schemeClr val="accent4">
                    <a:lumMod val="50000"/>
                  </a:schemeClr>
                </a:solidFill>
                <a:latin typeface="+mn-lt"/>
                <a:ea typeface="+mn-ea"/>
                <a:cs typeface="+mn-cs"/>
              </a:rPr>
              <a:t>Спасибо за внимание!</a:t>
            </a:r>
            <a:endParaRPr lang="ru-RU" sz="2800" b="1" dirty="0">
              <a:solidFill>
                <a:schemeClr val="accent4">
                  <a:lumMod val="50000"/>
                </a:schemeClr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3" name="Рисунок 2"/>
          <p:cNvPicPr/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72912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286</Words>
  <Application>Microsoft Office PowerPoint</Application>
  <PresentationFormat>Широкоэкранный</PresentationFormat>
  <Paragraphs>87</Paragraphs>
  <Slides>126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126</vt:i4>
      </vt:variant>
    </vt:vector>
  </HeadingPairs>
  <TitlesOfParts>
    <vt:vector size="131" baseType="lpstr">
      <vt:lpstr>Arial</vt:lpstr>
      <vt:lpstr>Calibri</vt:lpstr>
      <vt:lpstr>Calibri Light</vt:lpstr>
      <vt:lpstr>Tahoma</vt:lpstr>
      <vt:lpstr>Тема Office</vt:lpstr>
      <vt:lpstr>Общая фармакология: фармакокинетика, общая рецептура</vt:lpstr>
      <vt:lpstr>Презентация PowerPoint</vt:lpstr>
      <vt:lpstr>Презентация PowerPoint</vt:lpstr>
      <vt:lpstr>Презентация PowerPoint</vt:lpstr>
      <vt:lpstr>Фармакокинетика</vt:lpstr>
      <vt:lpstr>Фармакокинетика</vt:lpstr>
      <vt:lpstr>Фармакокинетика</vt:lpstr>
      <vt:lpstr>Фармакокинетика</vt:lpstr>
      <vt:lpstr>Гистогематические барьеры</vt:lpstr>
      <vt:lpstr>Гематоэнцефалический барьер (ГЭБ)</vt:lpstr>
      <vt:lpstr>Гематоплацентарный барьер</vt:lpstr>
      <vt:lpstr>The Absorption</vt:lpstr>
      <vt:lpstr>The Absorption</vt:lpstr>
      <vt:lpstr>Фармакокинетическая кривая</vt:lpstr>
      <vt:lpstr>Биодоступность при в/в введении 100%  </vt:lpstr>
      <vt:lpstr>Биодоступность при в/в введении 100%  </vt:lpstr>
      <vt:lpstr>Презентация PowerPoint</vt:lpstr>
      <vt:lpstr>Презентация PowerPoint</vt:lpstr>
      <vt:lpstr>Зависимость кривой концентрации от пути введения ЛВ </vt:lpstr>
      <vt:lpstr>Фармакокинетическая кривая</vt:lpstr>
      <vt:lpstr>Фармакокинетика</vt:lpstr>
      <vt:lpstr>Фармакокинетика</vt:lpstr>
      <vt:lpstr>Презентация PowerPoint</vt:lpstr>
      <vt:lpstr>Презентация PowerPoint</vt:lpstr>
      <vt:lpstr>Фармакокинетика</vt:lpstr>
      <vt:lpstr>Фармакокинетика</vt:lpstr>
      <vt:lpstr>Метаболизм ЛВ  </vt:lpstr>
      <vt:lpstr>Метаболизм ЛВ (биологическая трансформация)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Влияние ЛВ на активность микросомальных ферментов</vt:lpstr>
      <vt:lpstr>Презентация PowerPoint</vt:lpstr>
      <vt:lpstr>Презентация PowerPoint</vt:lpstr>
      <vt:lpstr>Период полувыведения ЛВ – T1/2</vt:lpstr>
      <vt:lpstr>Связывание ЛВ с белками плазмы крови</vt:lpstr>
      <vt:lpstr>Связывание ЛВ с белками плазмы крови</vt:lpstr>
      <vt:lpstr>Фармакокинетика</vt:lpstr>
      <vt:lpstr>Презентация PowerPoint</vt:lpstr>
      <vt:lpstr>Принципы лечения (острых) медикаментозных отравлений</vt:lpstr>
      <vt:lpstr>Причины острых лекарственных отравлений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Что пациент должен знать о лекарстве</vt:lpstr>
      <vt:lpstr>Презентация PowerPoint</vt:lpstr>
      <vt:lpstr>Общая рецептура</vt:lpstr>
      <vt:lpstr>История фармакологии</vt:lpstr>
      <vt:lpstr>Технология получения лекарств = история фармакологии и фармации</vt:lpstr>
      <vt:lpstr>Презентация PowerPoint</vt:lpstr>
      <vt:lpstr>Презентация PowerPoint</vt:lpstr>
      <vt:lpstr>Презентация PowerPoint</vt:lpstr>
      <vt:lpstr>Биологически активные вещества растений</vt:lpstr>
      <vt:lpstr>Алкалодиды </vt:lpstr>
      <vt:lpstr>Гликозиды </vt:lpstr>
      <vt:lpstr>Эфирные масла</vt:lpstr>
      <vt:lpstr>Сапонины </vt:lpstr>
      <vt:lpstr>Горечи </vt:lpstr>
      <vt:lpstr>Кумарины</vt:lpstr>
      <vt:lpstr>Технология получения лекарственных препаратов</vt:lpstr>
      <vt:lpstr>Производство и приготовление лекарственных препаратов</vt:lpstr>
      <vt:lpstr>Что такое рецепт?</vt:lpstr>
      <vt:lpstr>Пример рецепта</vt:lpstr>
      <vt:lpstr>Презентация PowerPoint</vt:lpstr>
      <vt:lpstr>Технология приготовления определяет вид выписываемого рецепта</vt:lpstr>
      <vt:lpstr>Мануальные и просты рецепты</vt:lpstr>
      <vt:lpstr>Состав лекарственных препаратов</vt:lpstr>
      <vt:lpstr>Твёрдые лекарственные формы</vt:lpstr>
      <vt:lpstr>Порошки</vt:lpstr>
      <vt:lpstr>Презентация PowerPoint</vt:lpstr>
      <vt:lpstr>Презентация PowerPoint</vt:lpstr>
      <vt:lpstr>Презентация PowerPoint</vt:lpstr>
      <vt:lpstr>Стадии изготовления порошков</vt:lpstr>
      <vt:lpstr>Презентация PowerPoint</vt:lpstr>
      <vt:lpstr>Растворы</vt:lpstr>
      <vt:lpstr>Классификация дисперсных систем</vt:lpstr>
      <vt:lpstr>Истинные растворы</vt:lpstr>
      <vt:lpstr>Коллоидные растворы</vt:lpstr>
      <vt:lpstr>Группы ЛП коллоидной природы</vt:lpstr>
      <vt:lpstr>РАСТВОРЫ ВЫСОКОМОЛЕКУЛЯРНЫХ СОЕДИНЕНИЙ (ВМС)</vt:lpstr>
      <vt:lpstr>Экстракция – настои и отвары</vt:lpstr>
      <vt:lpstr>Экстракция по Сокслету</vt:lpstr>
      <vt:lpstr>Инфундирный аппарат для водных извлечений</vt:lpstr>
      <vt:lpstr>Презентация PowerPoint</vt:lpstr>
      <vt:lpstr>Особенности изготовления</vt:lpstr>
      <vt:lpstr>МАЗИ</vt:lpstr>
      <vt:lpstr>Презентация PowerPoint</vt:lpstr>
      <vt:lpstr>Линименты</vt:lpstr>
      <vt:lpstr>Суппозитории</vt:lpstr>
      <vt:lpstr>Стереохимические основы создания лекарственных средств</vt:lpstr>
      <vt:lpstr>Термины стереофармакологии</vt:lpstr>
      <vt:lpstr>Стереоизомерия лекарственных средств</vt:lpstr>
      <vt:lpstr>Типы стереоизомерии</vt:lpstr>
      <vt:lpstr>Стереоизомерия лекарственных средств</vt:lpstr>
      <vt:lpstr>Методы разделения стереоизомеров</vt:lpstr>
      <vt:lpstr>Фундаментальные открытия в области стереохимии</vt:lpstr>
      <vt:lpstr>НАНОТЕХНОЛОГИИ</vt:lpstr>
      <vt:lpstr>Нанотехнологии в фармакологии</vt:lpstr>
      <vt:lpstr>Нанотехнологии в фармакологии</vt:lpstr>
      <vt:lpstr>ТРАНСПОРТНЫЕ СВОЙСТВА НАНОЧАСТИЦ</vt:lpstr>
      <vt:lpstr>Презентация PowerPoint</vt:lpstr>
      <vt:lpstr>Многоуровневая система доставки препарата</vt:lpstr>
      <vt:lpstr>Взаимодействие наночастиц с клеткой</vt:lpstr>
      <vt:lpstr>Пути использования наночастиц для создания лекарств</vt:lpstr>
      <vt:lpstr>НОВЫЕ ЛЕКАРСТВЕННЫЕ ФОРМЫ</vt:lpstr>
      <vt:lpstr>Направления создания новых систем и средств доставки лекарств</vt:lpstr>
      <vt:lpstr>Виды пероральных лекарственных форм с модифицированным высвобождением</vt:lpstr>
      <vt:lpstr>Технологии модифицированного высвобождения ЛВ</vt:lpstr>
      <vt:lpstr>Различные виды матриксов лекарств</vt:lpstr>
      <vt:lpstr>Схема строения таблетки осмотического действия</vt:lpstr>
      <vt:lpstr>Презентация PowerPoint</vt:lpstr>
      <vt:lpstr>СТРОЕНИЕ ТАБЛЕТКИ С СИСТЕМОЙ МНОЖЕСТВЕННЫХ ПЕЛЛЕТ</vt:lpstr>
      <vt:lpstr>Презентация PowerPoint</vt:lpstr>
      <vt:lpstr>Презентация PowerPoint</vt:lpstr>
      <vt:lpstr>Презентация PowerPoint</vt:lpstr>
      <vt:lpstr>Новые пути доставки ЛВ</vt:lpstr>
      <vt:lpstr>Новые пути доставки ЛВ</vt:lpstr>
      <vt:lpstr>СТРУКТУРА ТТС</vt:lpstr>
      <vt:lpstr>Презентация PowerPoint</vt:lpstr>
      <vt:lpstr>Презентация PowerPoint</vt:lpstr>
      <vt:lpstr>Презентация PowerPoint</vt:lpstr>
      <vt:lpstr>Спасибо за внимание!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Общая фармакология: фармакокинетика, общая рецептура</dc:title>
  <dc:creator>Alex Galkin</dc:creator>
  <cp:lastModifiedBy>Alex Galkin</cp:lastModifiedBy>
  <cp:revision>1</cp:revision>
  <dcterms:created xsi:type="dcterms:W3CDTF">2025-03-31T16:03:33Z</dcterms:created>
  <dcterms:modified xsi:type="dcterms:W3CDTF">2025-03-31T16:03:33Z</dcterms:modified>
</cp:coreProperties>
</file>