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7EBF9-22C6-41AD-80AD-76F46FE2C906}" type="datetimeFigureOut">
              <a:rPr lang="ru-RU" smtClean="0"/>
              <a:t>01.04.2025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71387-F094-4CD1-86D9-3C595D4318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6592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77EBF9-22C6-41AD-80AD-76F46FE2C906}" type="datetimeFigureOut">
              <a:rPr lang="ru-RU" smtClean="0"/>
              <a:t>01.04.2025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A71387-F094-4CD1-86D9-3C595D4318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1563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eg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jpeg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eg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eg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eg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eg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jpeg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jpeg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jpeg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jpeg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eg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jpeg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jpeg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jpeg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jpeg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jpeg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jpeg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jpeg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jpeg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jpeg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jpeg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jpeg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jpeg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jpeg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jpeg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jpeg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jpeg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Местные анестетики, общие анестетики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754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806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Что такое боль</a:t>
            </a:r>
            <a:r>
              <a:rPr lang="en-US" smtClean="0"/>
              <a:t>?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214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Органы чувств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516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Любые ощущения могут превратиться в боль, когда они становятся избыточными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844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Чувствительные рецепторы кожи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540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Два типа боли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493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Восприятие боли: (?) ноцицепторы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561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Проведение боли и антиноцицептивная система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017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Терминология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355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436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Терминология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160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Вещества местного неизбирательного действия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5946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Вяжущие средства неорганической природы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6652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Вяжущие средства органической природы (танины)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092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Обволакивающие средства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6876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Обволакивающие средства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0109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Адсорбирующие средства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3652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Местнораздражающие средства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5119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Этилхлорид </a:t>
            </a:r>
            <a:br>
              <a:rPr lang="ru-RU" smtClean="0"/>
            </a:br>
            <a:r>
              <a:rPr lang="ru-RU" smtClean="0"/>
              <a:t>(Хлорэтан)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9177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Этилхлорид - вещество, оказывающее физическое действие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0434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Местная анестезия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671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6179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mtClean="0"/>
              <a:t>Кокаин - родоначальник всех местных анестетиков</a:t>
            </a:r>
            <a:endParaRPr lang="ru-RU" alt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3690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6392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4434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0271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2329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1690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Прокаин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4023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8408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Некоторые местные анестетики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4993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Структура местных анестетиков:</a:t>
            </a:r>
            <a:br>
              <a:rPr lang="ru-RU" smtClean="0"/>
            </a:br>
            <a:r>
              <a:rPr lang="ru-RU" sz="3100" smtClean="0"/>
              <a:t>(1) ароматическая часть + (2) углеродная цепочка + (3) аминогруппа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8780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b="1" smtClean="0">
                <a:solidFill>
                  <a:srgbClr val="336600"/>
                </a:solidFill>
              </a:rPr>
              <a:t>Схема натриевого канала</a:t>
            </a:r>
            <a:endParaRPr lang="ru-RU" altLang="ru-RU" b="1">
              <a:solidFill>
                <a:srgbClr val="336600"/>
              </a:solidFill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7464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4450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5528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4068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9019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4000" b="1" smtClean="0">
                <a:solidFill>
                  <a:srgbClr val="0033CC"/>
                </a:solidFill>
              </a:rPr>
              <a:t>Механизм действия МА</a:t>
            </a:r>
            <a:endParaRPr lang="ru-RU" altLang="ru-RU" sz="4000" b="1" dirty="0">
              <a:solidFill>
                <a:srgbClr val="0033CC"/>
              </a:solidFill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7653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809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4473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0652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4013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7733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4000" b="1" smtClean="0">
                <a:solidFill>
                  <a:schemeClr val="accent2"/>
                </a:solidFill>
              </a:rPr>
              <a:t>Стадии местной анестезии </a:t>
            </a:r>
            <a:br>
              <a:rPr lang="ru-RU" altLang="ru-RU" sz="4000" b="1" smtClean="0">
                <a:solidFill>
                  <a:schemeClr val="accent2"/>
                </a:solidFill>
              </a:rPr>
            </a:br>
            <a:r>
              <a:rPr lang="ru-RU" altLang="ru-RU" smtClean="0">
                <a:solidFill>
                  <a:schemeClr val="accent2"/>
                </a:solidFill>
              </a:rPr>
              <a:t>(в зависимости от дозы)</a:t>
            </a:r>
            <a:r>
              <a:rPr lang="ru-RU" altLang="ru-RU" sz="4000" smtClean="0">
                <a:solidFill>
                  <a:schemeClr val="accent2"/>
                </a:solidFill>
              </a:rPr>
              <a:t/>
            </a:r>
            <a:br>
              <a:rPr lang="ru-RU" altLang="ru-RU" sz="4000" smtClean="0">
                <a:solidFill>
                  <a:schemeClr val="accent2"/>
                </a:solidFill>
              </a:rPr>
            </a:br>
            <a:endParaRPr lang="ru-RU" altLang="ru-RU" sz="4000" dirty="0">
              <a:solidFill>
                <a:schemeClr val="accent2"/>
              </a:solidFill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6745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Безмиелиновые и миелиновые нервные волокна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5114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78217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 structure of the nerve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2360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Побочные эффекты местных анестетиков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70578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4000" b="1" smtClean="0">
                <a:solidFill>
                  <a:schemeClr val="accent2"/>
                </a:solidFill>
              </a:rPr>
              <a:t>Различные в</a:t>
            </a:r>
            <a:r>
              <a:rPr lang="en-US" altLang="ru-RU" sz="4000" b="1" smtClean="0">
                <a:solidFill>
                  <a:schemeClr val="accent2"/>
                </a:solidFill>
              </a:rPr>
              <a:t>ид</a:t>
            </a:r>
            <a:r>
              <a:rPr lang="ru-RU" altLang="ru-RU" sz="4000" b="1" smtClean="0">
                <a:solidFill>
                  <a:schemeClr val="accent2"/>
                </a:solidFill>
              </a:rPr>
              <a:t>ы</a:t>
            </a:r>
            <a:r>
              <a:rPr lang="en-US" altLang="ru-RU" sz="4000" b="1" smtClean="0">
                <a:solidFill>
                  <a:schemeClr val="accent2"/>
                </a:solidFill>
              </a:rPr>
              <a:t> </a:t>
            </a:r>
            <a:r>
              <a:rPr lang="ru-RU" altLang="ru-RU" sz="4000" b="1" smtClean="0">
                <a:solidFill>
                  <a:schemeClr val="accent2"/>
                </a:solidFill>
              </a:rPr>
              <a:t>МА</a:t>
            </a:r>
            <a:endParaRPr lang="ru-RU" altLang="ru-RU" sz="4000" b="1">
              <a:solidFill>
                <a:schemeClr val="accent2"/>
              </a:solidFill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88847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mtClean="0"/>
              <a:t>Технологические методы местной анестезии</a:t>
            </a:r>
            <a:endParaRPr lang="ru-RU" alt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24562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b="1" smtClean="0">
                <a:solidFill>
                  <a:srgbClr val="336600"/>
                </a:solidFill>
              </a:rPr>
              <a:t>Виды местной анестезии</a:t>
            </a:r>
            <a:endParaRPr lang="ru-RU" altLang="ru-RU" b="1" dirty="0">
              <a:solidFill>
                <a:srgbClr val="336600"/>
              </a:solidFill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52280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mtClean="0"/>
              <a:t>Технологические методы местной анестезии</a:t>
            </a:r>
            <a:endParaRPr lang="ru-RU" alt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0802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b="1" smtClean="0">
                <a:solidFill>
                  <a:srgbClr val="336600"/>
                </a:solidFill>
              </a:rPr>
              <a:t>Виды местной анестезии</a:t>
            </a:r>
            <a:endParaRPr lang="ru-RU" alt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97781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mtClean="0"/>
              <a:t>Технологические методы местной анестезии</a:t>
            </a:r>
            <a:endParaRPr lang="ru-RU" alt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9009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b="1" smtClean="0">
                <a:solidFill>
                  <a:srgbClr val="663300"/>
                </a:solidFill>
              </a:rPr>
              <a:t>Спинальная анестезия</a:t>
            </a:r>
            <a:endParaRPr lang="ru-RU" altLang="ru-RU" b="1">
              <a:solidFill>
                <a:srgbClr val="663300"/>
              </a:solidFill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85662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3200" b="1" smtClean="0">
                <a:solidFill>
                  <a:srgbClr val="663300"/>
                </a:solidFill>
              </a:rPr>
              <a:t>Эпидуральная анестезия</a:t>
            </a:r>
            <a:endParaRPr lang="ru-RU" altLang="ru-RU" sz="3200" b="1">
              <a:solidFill>
                <a:srgbClr val="663300"/>
              </a:solidFill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32789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9392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09860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Общие анестетики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76697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Вильям Томас Грин Мортон публичная демонстрация эфирного наркоза 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5852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Наркоз (общая анестезия) - это...?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05062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altLang="ru-RU" sz="2000" b="1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Диэтиловый эфир - </a:t>
            </a:r>
            <a:r>
              <a:rPr lang="en-US" altLang="ru-RU" sz="2000" b="1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Aether diaethylicus</a:t>
            </a:r>
            <a:r>
              <a:rPr lang="ru-RU" altLang="ru-RU" sz="2000" b="1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 </a:t>
            </a:r>
            <a:br>
              <a:rPr lang="ru-RU" altLang="ru-RU" sz="2000" b="1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</a:br>
            <a:r>
              <a:rPr lang="ru-RU" altLang="ru-RU" sz="2000" b="1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(</a:t>
            </a:r>
            <a:r>
              <a:rPr lang="en-US" altLang="ru-RU" sz="2000" b="1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Aether pro narcosi</a:t>
            </a:r>
            <a:r>
              <a:rPr lang="ru-RU" altLang="ru-RU" sz="2000" b="1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, </a:t>
            </a:r>
            <a:r>
              <a:rPr lang="la-Latn" altLang="ru-RU" sz="2000" b="1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Aether medicinalis</a:t>
            </a:r>
            <a:r>
              <a:rPr lang="ru-RU" altLang="ru-RU" sz="2000" b="1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, Diethyl ether</a:t>
            </a:r>
            <a:r>
              <a:rPr lang="en-US" altLang="ru-RU" sz="2000" b="1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)</a:t>
            </a:r>
            <a:r>
              <a:rPr lang="ru-RU" altLang="ru-RU" sz="2000" b="1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: C4H10O</a:t>
            </a:r>
            <a:r>
              <a:rPr lang="ru-RU" altLang="ru-RU" sz="1600" b="1" smtClean="0">
                <a:solidFill>
                  <a:schemeClr val="tx2"/>
                </a:solidFill>
              </a:rPr>
              <a:t/>
            </a:r>
            <a:br>
              <a:rPr lang="ru-RU" altLang="ru-RU" sz="1600" b="1" smtClean="0">
                <a:solidFill>
                  <a:schemeClr val="tx2"/>
                </a:solidFill>
              </a:rPr>
            </a:br>
            <a:endParaRPr lang="ru-RU" altLang="ru-RU" sz="1600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86659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altLang="ru-RU" sz="2000" b="1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Диэтиловый эфир - </a:t>
            </a:r>
            <a:r>
              <a:rPr lang="en-US" altLang="ru-RU" sz="2000" b="1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Aether diaethylicus</a:t>
            </a:r>
            <a:r>
              <a:rPr lang="ru-RU" altLang="ru-RU" sz="2000" b="1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 </a:t>
            </a:r>
            <a:br>
              <a:rPr lang="ru-RU" altLang="ru-RU" sz="2000" b="1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</a:br>
            <a:r>
              <a:rPr lang="ru-RU" altLang="ru-RU" sz="2000" b="1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(</a:t>
            </a:r>
            <a:r>
              <a:rPr lang="en-US" altLang="ru-RU" sz="2000" b="1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Aether pro narcosi</a:t>
            </a:r>
            <a:r>
              <a:rPr lang="ru-RU" altLang="ru-RU" sz="2000" b="1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, </a:t>
            </a:r>
            <a:r>
              <a:rPr lang="la-Latn" altLang="ru-RU" sz="2000" b="1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Aether medicinalis</a:t>
            </a:r>
            <a:r>
              <a:rPr lang="ru-RU" altLang="ru-RU" sz="2000" b="1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, Diethyl ether</a:t>
            </a:r>
            <a:r>
              <a:rPr lang="en-US" altLang="ru-RU" sz="2000" b="1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)</a:t>
            </a:r>
            <a:r>
              <a:rPr lang="ru-RU" altLang="ru-RU" sz="2000" b="1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: C4H10O</a:t>
            </a:r>
            <a:r>
              <a:rPr lang="ru-RU" altLang="ru-RU" sz="1600" b="1" smtClean="0">
                <a:solidFill>
                  <a:schemeClr val="tx2"/>
                </a:solidFill>
              </a:rPr>
              <a:t/>
            </a:r>
            <a:br>
              <a:rPr lang="ru-RU" altLang="ru-RU" sz="1600" b="1" smtClean="0">
                <a:solidFill>
                  <a:schemeClr val="tx2"/>
                </a:solidFill>
              </a:rPr>
            </a:br>
            <a:endParaRPr lang="ru-RU" altLang="ru-RU" sz="1600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66649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altLang="ru-RU" sz="2000" b="1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Динитрогена оксид</a:t>
            </a:r>
            <a:br>
              <a:rPr lang="ru-RU" altLang="ru-RU" sz="2000" b="1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</a:br>
            <a:r>
              <a:rPr lang="ru-RU" altLang="ru-RU" sz="2000" b="1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(закись азота, веселящий газ) </a:t>
            </a:r>
            <a:r>
              <a:rPr lang="en-US" altLang="ru-RU" sz="2000" b="1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N2O</a:t>
            </a:r>
            <a:endParaRPr lang="ru-RU" altLang="ru-RU" sz="1600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1103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altLang="ru-RU" sz="2000" b="1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Динитрогена оксид</a:t>
            </a:r>
            <a:br>
              <a:rPr lang="ru-RU" altLang="ru-RU" sz="2000" b="1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</a:br>
            <a:r>
              <a:rPr lang="ru-RU" altLang="ru-RU" sz="2000" b="1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(закись азота, веселящий газ) </a:t>
            </a:r>
            <a:r>
              <a:rPr lang="en-US" altLang="ru-RU" sz="2000" b="1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N2O</a:t>
            </a:r>
            <a:endParaRPr lang="ru-RU" altLang="ru-RU" sz="1600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13652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82252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Ингаляционные анестетики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2146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b="1" smtClean="0">
                <a:solidFill>
                  <a:schemeClr val="accent2"/>
                </a:solidFill>
              </a:rPr>
              <a:t>Ингаляционная анестезия</a:t>
            </a:r>
            <a:endParaRPr lang="ru-RU" altLang="ru-RU" b="1">
              <a:solidFill>
                <a:schemeClr val="accent2"/>
              </a:solidFill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30616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03081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39065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Фармакодинамика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37160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Фармакодинамика</a:t>
            </a:r>
            <a:endParaRPr lang="ru-RU" alt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19109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>
                <a:solidFill>
                  <a:srgbClr val="FF3300"/>
                </a:solidFill>
              </a:rPr>
              <a:t>Зависимость наркотического действия от липофильности ЛС</a:t>
            </a:r>
            <a:endParaRPr lang="ru-RU">
              <a:solidFill>
                <a:srgbClr val="FF3300"/>
              </a:solidFill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95080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ru-RU" altLang="ru-RU" sz="4000" smtClean="0"/>
              <a:t>ЗАКИСЬ АЗОТА</a:t>
            </a:r>
            <a:endParaRPr lang="ru-RU" altLang="ru-RU" sz="400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77451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ru-RU" altLang="ru-RU" sz="4000" smtClean="0"/>
              <a:t>ЗАКИСЬ АЗОТА</a:t>
            </a:r>
            <a:endParaRPr lang="ru-RU" altLang="ru-RU" sz="400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05546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altLang="ru-RU" sz="2000" b="1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Галотан</a:t>
            </a:r>
            <a:br>
              <a:rPr lang="ru-RU" altLang="ru-RU" sz="2000" b="1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</a:br>
            <a:r>
              <a:rPr lang="ru-RU" altLang="ru-RU" sz="2000" b="1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(Фторотан, 2-бром-2-хлор-1,1,1-трифторэтан) </a:t>
            </a:r>
            <a:endParaRPr lang="ru-RU" altLang="ru-RU" sz="1600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84233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/>
            </a:pPr>
            <a:r>
              <a:rPr lang="ru-RU" sz="2400" b="1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Галотан</a:t>
            </a:r>
            <a:r>
              <a:rPr lang="en-US" sz="2400" b="1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 – </a:t>
            </a:r>
            <a:r>
              <a:rPr lang="ru-RU" sz="1800" b="1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2-бром-2-хлор-1,1,1-трифторэтан </a:t>
            </a:r>
            <a:endParaRPr lang="ru-RU" sz="1800" b="1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0606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17936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ru-RU" altLang="ru-RU" sz="4000" smtClean="0"/>
              <a:t>ГАЛОТАН</a:t>
            </a:r>
            <a:endParaRPr lang="ru-RU" altLang="ru-RU" sz="4000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37524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mtClean="0"/>
              <a:t>КСЕНОН – </a:t>
            </a:r>
            <a:r>
              <a:rPr lang="ru-RU" altLang="ru-RU" baseline="30000" smtClean="0"/>
              <a:t>54</a:t>
            </a:r>
            <a:r>
              <a:rPr lang="en-US" altLang="ru-RU" smtClean="0"/>
              <a:t>Xe</a:t>
            </a:r>
            <a:endParaRPr lang="ru-RU" alt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33101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ru-RU" altLang="ru-RU" sz="4000" smtClean="0"/>
              <a:t>ГАЛОТАН</a:t>
            </a:r>
            <a:endParaRPr lang="ru-RU" altLang="ru-RU" sz="4000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59111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ru-RU" altLang="ru-RU" sz="4000" smtClean="0"/>
              <a:t>ГАЛОТАН</a:t>
            </a:r>
            <a:endParaRPr lang="ru-RU" altLang="ru-RU" sz="4000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75256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sz="1600" smtClean="0"/>
              <a:t/>
            </a:r>
            <a:br>
              <a:rPr lang="ru-RU" sz="1600" smtClean="0"/>
            </a:br>
            <a:r>
              <a:rPr lang="ru-RU" sz="1800" b="1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Энфлуран </a:t>
            </a:r>
            <a:br>
              <a:rPr lang="ru-RU" sz="1800" b="1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</a:br>
            <a:r>
              <a:rPr lang="ru-RU" sz="1800" b="1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2-Хлор-1,1,2-трифторэтил-дифторметиловый эфир</a:t>
            </a:r>
            <a:r>
              <a:rPr lang="ru-RU" sz="1600" b="1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/>
            </a:r>
            <a:br>
              <a:rPr lang="ru-RU" sz="1600" b="1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</a:br>
            <a:endParaRPr lang="ru-RU" sz="1600" b="1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50918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sz="1800" b="1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Изофлуран</a:t>
            </a:r>
            <a:br>
              <a:rPr lang="ru-RU" sz="1800" b="1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</a:br>
            <a:r>
              <a:rPr lang="ru-RU" sz="1800" b="1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2-Хлор-2-(дифторметокси)-1,1,1-трифторэтан (C</a:t>
            </a:r>
            <a:r>
              <a:rPr lang="ru-RU" sz="1800" b="1" baseline="-25000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u-RU" sz="1800" b="1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H</a:t>
            </a:r>
            <a:r>
              <a:rPr lang="ru-RU" sz="1800" b="1" baseline="-25000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2</a:t>
            </a:r>
            <a:r>
              <a:rPr lang="ru-RU" sz="1800" b="1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ClF</a:t>
            </a:r>
            <a:r>
              <a:rPr lang="ru-RU" sz="1800" b="1" baseline="-25000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5</a:t>
            </a:r>
            <a:r>
              <a:rPr lang="ru-RU" sz="1800" b="1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O)</a:t>
            </a:r>
            <a:br>
              <a:rPr lang="ru-RU" sz="1800" b="1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</a:br>
            <a:r>
              <a:rPr lang="ru-RU" sz="1600" b="1" smtClean="0">
                <a:solidFill>
                  <a:schemeClr val="bg2">
                    <a:lumMod val="10000"/>
                  </a:schemeClr>
                </a:solidFill>
              </a:rPr>
              <a:t/>
            </a:r>
            <a:br>
              <a:rPr lang="ru-RU" sz="1600" b="1" smtClean="0">
                <a:solidFill>
                  <a:schemeClr val="bg2">
                    <a:lumMod val="10000"/>
                  </a:schemeClr>
                </a:solidFill>
              </a:rPr>
            </a:br>
            <a:endParaRPr lang="ru-RU" sz="1600" b="1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98317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altLang="ru-RU" sz="2800" b="1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Метоксифлуран</a:t>
            </a:r>
            <a:endParaRPr lang="ru-RU" altLang="ru-RU" sz="2800" b="1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34058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altLang="ru-RU" sz="2400" b="1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Севофлуран  (sevoflurane, Севоран)</a:t>
            </a:r>
            <a:r>
              <a:rPr lang="ru-RU" altLang="ru-RU" sz="2400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/>
            </a:r>
            <a:br>
              <a:rPr lang="ru-RU" altLang="ru-RU" sz="2400" smtClean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</a:br>
            <a:r>
              <a:rPr lang="ru-RU" altLang="ru-RU" sz="1600" b="1" smtClean="0">
                <a:solidFill>
                  <a:schemeClr val="tx2"/>
                </a:solidFill>
              </a:rPr>
              <a:t> </a:t>
            </a:r>
            <a:endParaRPr lang="ru-RU" altLang="ru-RU" sz="1600" b="1" dirty="0">
              <a:solidFill>
                <a:schemeClr val="tx2"/>
              </a:solidFill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87898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Сравнение фармакокинетики ингаляционных анестетиков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7965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sz="4000" smtClean="0">
                <a:solidFill>
                  <a:srgbClr val="FF0000"/>
                </a:solidFill>
              </a:rPr>
              <a:t>Эволюция ингаляционных анестетиков</a:t>
            </a:r>
            <a:endParaRPr lang="it-IT" sz="4000" dirty="0">
              <a:solidFill>
                <a:srgbClr val="FF0000"/>
              </a:solidFill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50559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mtClean="0"/>
              <a:t>НЕИНГАЛЯЦИОННАЯ АНЕСТЕЗИЯ</a:t>
            </a:r>
            <a:endParaRPr lang="ru-RU" alt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71434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82886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ru-RU" altLang="ru-RU" sz="4000" smtClean="0"/>
              <a:t>ФАРМАКОКИНЕТИКА В/ВЕННЫХ АНЕСТЕТИКОВ</a:t>
            </a:r>
            <a:endParaRPr lang="ru-RU" altLang="ru-RU" sz="400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88484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ru-RU" altLang="ru-RU" sz="4000" smtClean="0"/>
              <a:t>ФАРМАКОКИНЕТИКА В/ВЕННЫХ АНЕСТЕТИКОВ</a:t>
            </a:r>
            <a:endParaRPr lang="ru-RU" alt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96465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02726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831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Дозозависимые эффекты бензадиазепинов и фенобарбитала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94280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07326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Сравнительная характеристика бензодиазепинов и барбитуратов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1634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ru-RU" altLang="ru-RU" sz="4000" smtClean="0"/>
              <a:t>БАРБИТУРАТЫ (тиопентал, гексенал)</a:t>
            </a:r>
            <a:endParaRPr lang="ru-RU" altLang="ru-RU" sz="400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75597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ru-RU" altLang="ru-RU" sz="4000" smtClean="0"/>
              <a:t>БАРБИТУРАТЫ (тиопентал, гексенал)</a:t>
            </a:r>
            <a:endParaRPr lang="ru-RU" altLang="ru-RU" sz="400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21051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ru-RU" altLang="ru-RU" sz="4000" smtClean="0"/>
              <a:t>БАРБИТУРАТЫ (тиопентал, гексенал)</a:t>
            </a:r>
            <a:endParaRPr lang="ru-RU" altLang="ru-RU" sz="400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34361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ru-RU" altLang="ru-RU" sz="4000" smtClean="0"/>
              <a:t>БЕНЗОДИАЗЕПИНЫ (ДИАЗЕПАМ, МИДАЗОЛАМ)</a:t>
            </a:r>
            <a:endParaRPr lang="ru-RU" altLang="ru-RU" sz="400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86488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ru-RU" altLang="ru-RU" sz="4000" smtClean="0"/>
              <a:t>БЕНЗОДИАЗЕПИНЫ (ДИАЗЕПАМ, МИДАЗОЛАМ)</a:t>
            </a:r>
            <a:endParaRPr lang="ru-RU" altLang="ru-RU" sz="400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20522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69716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ru-RU" altLang="ru-RU" sz="4000" smtClean="0"/>
              <a:t>КЕТАМИН</a:t>
            </a:r>
            <a:endParaRPr lang="ru-RU" altLang="ru-RU" sz="400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32673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ru-RU" altLang="ru-RU" sz="4000" smtClean="0"/>
              <a:t>КЕТАМИН</a:t>
            </a:r>
            <a:endParaRPr lang="ru-RU" altLang="ru-RU" sz="400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650267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ru-RU" altLang="ru-RU" sz="4000" smtClean="0"/>
              <a:t>КЕТАМИН</a:t>
            </a:r>
            <a:endParaRPr lang="ru-RU" altLang="ru-RU" sz="400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014334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ru-RU" altLang="ru-RU" sz="4000" smtClean="0"/>
              <a:t>КЕТАМИН</a:t>
            </a:r>
            <a:endParaRPr lang="ru-RU" altLang="ru-RU" sz="4000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11499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ru-RU" altLang="ru-RU" sz="4000" smtClean="0"/>
              <a:t>ПРОПОФОЛ</a:t>
            </a:r>
            <a:endParaRPr lang="ru-RU" altLang="ru-RU" sz="4000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47637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ru-RU" altLang="ru-RU" sz="4000" smtClean="0"/>
              <a:t>ПРОПОФОЛ</a:t>
            </a:r>
            <a:endParaRPr lang="ru-RU" altLang="ru-RU" sz="400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213739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ru-RU" altLang="ru-RU" sz="4000" smtClean="0"/>
              <a:t>ПРОПОФОЛ</a:t>
            </a:r>
            <a:endParaRPr lang="ru-RU" altLang="ru-RU" sz="400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93891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398989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480210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007400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329560"/>
      </p:ext>
    </p:extLst>
  </p:cSld>
  <p:clrMapOvr>
    <a:masterClrMapping/>
  </p:clrMapOvr>
  <p:transition/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2600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</Words>
  <Application>Microsoft Office PowerPoint</Application>
  <PresentationFormat>Широкоэкранный</PresentationFormat>
  <Paragraphs>81</Paragraphs>
  <Slides>116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116</vt:i4>
      </vt:variant>
    </vt:vector>
  </HeadingPairs>
  <TitlesOfParts>
    <vt:vector size="121" baseType="lpstr">
      <vt:lpstr>Arial</vt:lpstr>
      <vt:lpstr>Calibri</vt:lpstr>
      <vt:lpstr>Calibri Light</vt:lpstr>
      <vt:lpstr>Georgia</vt:lpstr>
      <vt:lpstr>Тема Office</vt:lpstr>
      <vt:lpstr>Местные анестетики, общие анестетики</vt:lpstr>
      <vt:lpstr>Презентация PowerPoint</vt:lpstr>
      <vt:lpstr>Что такое боль?</vt:lpstr>
      <vt:lpstr>Органы чувств</vt:lpstr>
      <vt:lpstr>Любые ощущения могут превратиться в боль, когда они становятся избыточными</vt:lpstr>
      <vt:lpstr>Чувствительные рецепторы кожи</vt:lpstr>
      <vt:lpstr>Два типа боли</vt:lpstr>
      <vt:lpstr>Восприятие боли: (?) ноцицепторы</vt:lpstr>
      <vt:lpstr>Проведение боли и антиноцицептивная система</vt:lpstr>
      <vt:lpstr>Терминология</vt:lpstr>
      <vt:lpstr>Презентация PowerPoint</vt:lpstr>
      <vt:lpstr>Терминология</vt:lpstr>
      <vt:lpstr>Вещества местного неизбирательного действия</vt:lpstr>
      <vt:lpstr>Вяжущие средства неорганической природы</vt:lpstr>
      <vt:lpstr>Вяжущие средства органической природы (танины)</vt:lpstr>
      <vt:lpstr>Обволакивающие средства</vt:lpstr>
      <vt:lpstr>Обволакивающие средства</vt:lpstr>
      <vt:lpstr>Адсорбирующие средства</vt:lpstr>
      <vt:lpstr>Местнораздражающие средства</vt:lpstr>
      <vt:lpstr>Этилхлорид  (Хлорэтан)</vt:lpstr>
      <vt:lpstr>Этилхлорид - вещество, оказывающее физическое действие</vt:lpstr>
      <vt:lpstr>Местная анестезия</vt:lpstr>
      <vt:lpstr>Презентация PowerPoint</vt:lpstr>
      <vt:lpstr>Кокаин - родоначальник всех местных анестетиков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Прокаин</vt:lpstr>
      <vt:lpstr>Презентация PowerPoint</vt:lpstr>
      <vt:lpstr>Некоторые местные анестетики</vt:lpstr>
      <vt:lpstr>Структура местных анестетиков: (1) ароматическая часть + (2) углеродная цепочка + (3) аминогруппа</vt:lpstr>
      <vt:lpstr>Схема натриевого канала</vt:lpstr>
      <vt:lpstr>Презентация PowerPoint</vt:lpstr>
      <vt:lpstr>Презентация PowerPoint</vt:lpstr>
      <vt:lpstr>Презентация PowerPoint</vt:lpstr>
      <vt:lpstr>Презентация PowerPoint</vt:lpstr>
      <vt:lpstr>Механизм действия МА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Стадии местной анестезии  (в зависимости от дозы) </vt:lpstr>
      <vt:lpstr>Безмиелиновые и миелиновые нервные волокна</vt:lpstr>
      <vt:lpstr>Презентация PowerPoint</vt:lpstr>
      <vt:lpstr>the structure of the nerve</vt:lpstr>
      <vt:lpstr>Побочные эффекты местных анестетиков</vt:lpstr>
      <vt:lpstr>Различные виды МА</vt:lpstr>
      <vt:lpstr>Технологические методы местной анестезии</vt:lpstr>
      <vt:lpstr>Виды местной анестезии</vt:lpstr>
      <vt:lpstr>Технологические методы местной анестезии</vt:lpstr>
      <vt:lpstr>Виды местной анестезии</vt:lpstr>
      <vt:lpstr>Технологические методы местной анестезии</vt:lpstr>
      <vt:lpstr>Спинальная анестезия</vt:lpstr>
      <vt:lpstr>Эпидуральная анестезия</vt:lpstr>
      <vt:lpstr>Презентация PowerPoint</vt:lpstr>
      <vt:lpstr>Презентация PowerPoint</vt:lpstr>
      <vt:lpstr>Общие анестетики</vt:lpstr>
      <vt:lpstr>Вильям Томас Грин Мортон публичная демонстрация эфирного наркоза </vt:lpstr>
      <vt:lpstr>Наркоз (общая анестезия) - это...?</vt:lpstr>
      <vt:lpstr>Диэтиловый эфир - Aether diaethylicus  (Aether pro narcosi, Aether medicinalis, Diethyl ether): C4H10O </vt:lpstr>
      <vt:lpstr>Диэтиловый эфир - Aether diaethylicus  (Aether pro narcosi, Aether medicinalis, Diethyl ether): C4H10O </vt:lpstr>
      <vt:lpstr>Динитрогена оксид (закись азота, веселящий газ) N2O</vt:lpstr>
      <vt:lpstr>Динитрогена оксид (закись азота, веселящий газ) N2O</vt:lpstr>
      <vt:lpstr>Презентация PowerPoint</vt:lpstr>
      <vt:lpstr>Ингаляционные анестетики</vt:lpstr>
      <vt:lpstr>Ингаляционная анестезия</vt:lpstr>
      <vt:lpstr>Презентация PowerPoint</vt:lpstr>
      <vt:lpstr>Презентация PowerPoint</vt:lpstr>
      <vt:lpstr>Фармакодинамика</vt:lpstr>
      <vt:lpstr>Фармакодинамика</vt:lpstr>
      <vt:lpstr>Зависимость наркотического действия от липофильности ЛС</vt:lpstr>
      <vt:lpstr>ЗАКИСЬ АЗОТА</vt:lpstr>
      <vt:lpstr>ЗАКИСЬ АЗОТА</vt:lpstr>
      <vt:lpstr>Галотан (Фторотан, 2-бром-2-хлор-1,1,1-трифторэтан) </vt:lpstr>
      <vt:lpstr>Галотан – 2-бром-2-хлор-1,1,1-трифторэтан </vt:lpstr>
      <vt:lpstr>Презентация PowerPoint</vt:lpstr>
      <vt:lpstr>ГАЛОТАН</vt:lpstr>
      <vt:lpstr>КСЕНОН – 54Xe</vt:lpstr>
      <vt:lpstr>ГАЛОТАН</vt:lpstr>
      <vt:lpstr>ГАЛОТАН</vt:lpstr>
      <vt:lpstr> Энфлуран  2-Хлор-1,1,2-трифторэтил-дифторметиловый эфир </vt:lpstr>
      <vt:lpstr>Изофлуран 2-Хлор-2-(дифторметокси)-1,1,1-трифторэтан (C3H2ClF5O)  </vt:lpstr>
      <vt:lpstr>Метоксифлуран</vt:lpstr>
      <vt:lpstr>Севофлуран  (sevoflurane, Севоран)  </vt:lpstr>
      <vt:lpstr>Сравнение фармакокинетики ингаляционных анестетиков</vt:lpstr>
      <vt:lpstr>Эволюция ингаляционных анестетиков</vt:lpstr>
      <vt:lpstr>НЕИНГАЛЯЦИОННАЯ АНЕСТЕЗИЯ</vt:lpstr>
      <vt:lpstr>Презентация PowerPoint</vt:lpstr>
      <vt:lpstr>ФАРМАКОКИНЕТИКА В/ВЕННЫХ АНЕСТЕТИКОВ</vt:lpstr>
      <vt:lpstr>ФАРМАКОКИНЕТИКА В/ВЕННЫХ АНЕСТЕТИКОВ</vt:lpstr>
      <vt:lpstr>Презентация PowerPoint</vt:lpstr>
      <vt:lpstr>Презентация PowerPoint</vt:lpstr>
      <vt:lpstr>Дозозависимые эффекты бензадиазепинов и фенобарбитала</vt:lpstr>
      <vt:lpstr>Презентация PowerPoint</vt:lpstr>
      <vt:lpstr>Сравнительная характеристика бензодиазепинов и барбитуратов</vt:lpstr>
      <vt:lpstr>БАРБИТУРАТЫ (тиопентал, гексенал)</vt:lpstr>
      <vt:lpstr>БАРБИТУРАТЫ (тиопентал, гексенал)</vt:lpstr>
      <vt:lpstr>БАРБИТУРАТЫ (тиопентал, гексенал)</vt:lpstr>
      <vt:lpstr>БЕНЗОДИАЗЕПИНЫ (ДИАЗЕПАМ, МИДАЗОЛАМ)</vt:lpstr>
      <vt:lpstr>БЕНЗОДИАЗЕПИНЫ (ДИАЗЕПАМ, МИДАЗОЛАМ)</vt:lpstr>
      <vt:lpstr>Презентация PowerPoint</vt:lpstr>
      <vt:lpstr>КЕТАМИН</vt:lpstr>
      <vt:lpstr>КЕТАМИН</vt:lpstr>
      <vt:lpstr>КЕТАМИН</vt:lpstr>
      <vt:lpstr>КЕТАМИН</vt:lpstr>
      <vt:lpstr>ПРОПОФОЛ</vt:lpstr>
      <vt:lpstr>ПРОПОФОЛ</vt:lpstr>
      <vt:lpstr>ПРОПОФОЛ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Местные анестетики, общие анестетики</dc:title>
  <dc:creator>Alex Galkin</dc:creator>
  <cp:lastModifiedBy>Alex Galkin</cp:lastModifiedBy>
  <cp:revision>1</cp:revision>
  <dcterms:created xsi:type="dcterms:W3CDTF">2025-04-01T06:51:53Z</dcterms:created>
  <dcterms:modified xsi:type="dcterms:W3CDTF">2025-04-01T06:51:53Z</dcterms:modified>
</cp:coreProperties>
</file>